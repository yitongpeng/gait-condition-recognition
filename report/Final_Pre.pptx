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3" r:id="rId4"/>
    <p:sldId id="259" r:id="rId5"/>
    <p:sldId id="279" r:id="rId6"/>
    <p:sldId id="267" r:id="rId7"/>
    <p:sldId id="268" r:id="rId8"/>
    <p:sldId id="269" r:id="rId9"/>
    <p:sldId id="274" r:id="rId10"/>
    <p:sldId id="270" r:id="rId11"/>
    <p:sldId id="275" r:id="rId12"/>
    <p:sldId id="276" r:id="rId13"/>
    <p:sldId id="278" r:id="rId14"/>
    <p:sldId id="277" r:id="rId15"/>
    <p:sldId id="262" r:id="rId16"/>
    <p:sldId id="280" r:id="rId1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1"/>
    <p:restoredTop sz="67978"/>
  </p:normalViewPr>
  <p:slideViewPr>
    <p:cSldViewPr snapToGrid="0">
      <p:cViewPr varScale="1">
        <p:scale>
          <a:sx n="82" d="100"/>
          <a:sy n="82" d="100"/>
        </p:scale>
        <p:origin x="8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E660-804A-154A-97F1-2E908C077959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C168-65EF-174D-9685-BF478A60DE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0102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0242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373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35321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5359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0B8CA-3758-BB3D-642A-B42D2A4A7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54E09-0825-C649-3FAA-803153016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128A0-9436-61F8-0176-A9DCFAB2A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774AA-50DD-A802-5E34-C5457B548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3641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5EE5F-33CD-15D7-EB3D-F436D38E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5802D-6D15-CDF9-0FA6-F415EBAAD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C72AF-7B6E-B2AC-5DD0-C0D255B17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4AC10-2F67-5C5A-AAEF-96BD51A25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03267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784CD-7FED-4B8D-E024-7A713C135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CBCF5-B8B6-4005-5CE9-F79E90C5B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0F86D-37FF-7475-3B0E-2AB2A83F5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83139-7916-B1AD-113F-A8612694D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9365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1B4C-E487-B350-21CA-B8ED7350E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A8393-BA43-021C-2BAE-C442EA1EA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14A36-845F-46B1-DFC3-2C301E1CB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9FD6E-C82D-AD31-36B2-A25F8A9D5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85012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B0B70-D5EA-69C4-61DE-604566FF4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98148-28A4-596B-F301-DB0AEE9E8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0B3E7-D1B2-209D-E197-71C8D1F06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AF649-C769-38D9-0CF9-9B6F55BA9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78941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C3C8-7473-B580-52F2-89EC564F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48534-AE4C-C114-0ECA-F87F41B7C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5A918-2574-466B-E789-AF2453B9F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ECC6C-CA9B-1AD2-2E18-525E805F0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97102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F9848-0B44-9221-8C7B-909570CD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0939E-0D7D-02B4-A5CA-EA83B2A13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55082-CC9A-142A-397C-23762D2E2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93F99-3648-E642-A6C2-B5E57B764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1715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25C5-D06C-7EF3-5C22-9DD840857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A42E1-E188-0A3F-2FE5-2DE574E58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62114-1C3E-9929-2651-93E9047F2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B9866-0161-8EE3-9957-37942416F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2576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55537-12C9-EB11-A97C-FCEB9A154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C9A54-6697-15DC-51FF-0E2154FC4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F0E23-750D-46D2-E464-829D02D14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D9A80-DBEC-5CFC-F878-B56CC48D0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78471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8ACD-C6E7-578A-0BEE-F60C972BF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5C5F6-A4EB-51B5-7DF0-7772CB59C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14290-4B26-108F-1A8A-4E9FF908E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23BCC-2D80-EC9D-1C64-BEAEB6A29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80906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61981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CBA6-EA1D-ECC8-C4FC-1CCD42610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7ECD6-FA3B-3BBC-8F64-4C55448AD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21060-81F5-8DE7-A13A-6EC585856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F38CD-4E7A-1171-AFDC-F6542264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33C3F-4D10-6C9C-9EAB-0F379B24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922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31A9-286A-2015-B6E7-52F27E0F4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B7C13-C70F-CC63-A29B-22A736703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77706-265C-D10F-7349-421B9ABB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3F961-6831-33F9-0A3B-9E12420B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794D6-CB6A-6DCF-D19E-EF04EF2E0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469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3B6D-8E34-58AC-33FD-2315FDAF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FD707-4A75-C4FF-0DFE-8845CB7A8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E600A-1FCB-F0C1-335E-5CF61E62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E7F59-41FC-F190-2E3E-6E7867FE2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FE9D1-AC3E-1326-6DB6-B5EA7905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874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0728-1F7C-7DD5-DDB9-F428D8E5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80E7-8756-5246-B88F-BF3E16D61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9C1B9-8943-7232-C562-233482411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5CBE8-ED5F-DC3B-A420-27FC97F0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B590E-FE9C-8C5F-6D97-B5661B4B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7AA07-F270-0BC1-4B5E-2BE7112D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8380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8A5BA-E4BE-1C2C-5ACE-9BAF24A4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CF9C3-D8D7-41A1-3E83-636F6F88B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EE333-D6F6-86C7-1C4B-1A70C5CB8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F94CA-E233-A222-B8AD-727C1102C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32CC3A-760A-B34D-8E60-78A51CA7B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58A56-B6E9-7F5C-A06E-9BA403D6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32DB0F-D29E-156E-5616-7E26ABA0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18A499-2FDB-1A29-FAFF-88153FB2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9926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9DF6-22FC-4A3A-D532-19FB485D3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6C11BD-7102-43B1-0DC7-31D0A662A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644A2-881C-BAAC-4DAD-AAC837C4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6B6D8-D59D-F0C3-CDEF-DCC0B5EB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963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062D0-A857-033C-DD9D-22E108B5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850A85-FCAE-28D2-123C-C7FC16E54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885B1-6FFE-7056-F196-61F6AA7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9417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1A16D-32E1-E57E-466D-672CBC57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321BF-AD07-48B3-38E8-561321ADC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0733B-2C96-3427-DD1D-E76FF6416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47875-CDF1-DAD0-03C9-400A6F56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E6BCC-70AB-914B-EB62-54651B28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6A3EF-6A2E-859A-D504-BD2216A1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1152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0A59-FC9E-34E9-7473-C3EFD8E16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59397-A36F-CBED-D16A-30CE3FEAA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358BB-9D44-3E59-0F12-90D28FA74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8D30F-72A6-2742-E163-C5B7F5266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2557F-AC97-46AE-A596-1BE2D5CC3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DC7C4-691F-8E50-FE96-C8A14B39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222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322F-2520-FFCC-DA1A-E2E35E5F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AA762-089A-BFF0-29B2-9973BEA6B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018A3-46E0-EFB1-9C21-262C84AC8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9B79F-B700-EC86-9819-5AF16516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94EF1-07EC-109B-F8E6-A6A53300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858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6EAF8-3995-A171-A14A-3F2E68DC43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F009A-5679-EE50-B742-F56EB8143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1ADA2-D52D-EAE1-9086-A8B5555EF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62EB4-D43F-4A5D-DA3B-0C60CF73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63718-D6A5-958B-06DF-F7CD2319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14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AB3CE4-29ED-0A19-DAF6-C24DF9D1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C927E-28BC-1BC1-D58C-561716921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CD261-7047-93A9-93CC-9E0A4E6A3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6786C-A465-6E45-871B-95FBC7C0BDBA}" type="datetimeFigureOut">
              <a:rPr lang="en-CN" smtClean="0"/>
              <a:t>12/10/25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F7286-0E1D-BF89-FB6D-4CE67E480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08C56-573B-2D88-0452-6D7232F33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899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itongPeng/Gait-Condition-Recognition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760/multivariate+gait+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996A53-8D3D-8D4B-BDEE-949F1F97F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1342" y="5510088"/>
            <a:ext cx="2721429" cy="112122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Yitong Peng</a:t>
            </a:r>
          </a:p>
          <a:p>
            <a:pPr>
              <a:lnSpc>
                <a:spcPct val="150000"/>
              </a:lnSpc>
            </a:pP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GitHub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D5764-E451-4069-29D4-9B165A285EAD}"/>
              </a:ext>
            </a:extLst>
          </p:cNvPr>
          <p:cNvSpPr txBox="1"/>
          <p:nvPr/>
        </p:nvSpPr>
        <p:spPr>
          <a:xfrm>
            <a:off x="745672" y="457588"/>
            <a:ext cx="1817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 12</a:t>
            </a:r>
            <a:r>
              <a:rPr lang="en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49622D-99D2-2077-0FC2-592FC173C6B9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BC9004-5B71-F8C2-A0B3-4F6117592D3F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56FDB0-7F03-525A-9509-997F1A0DC52F}"/>
              </a:ext>
            </a:extLst>
          </p:cNvPr>
          <p:cNvSpPr/>
          <p:nvPr/>
        </p:nvSpPr>
        <p:spPr>
          <a:xfrm>
            <a:off x="0" y="1785257"/>
            <a:ext cx="12192000" cy="3352800"/>
          </a:xfrm>
          <a:prstGeom prst="rect">
            <a:avLst/>
          </a:prstGeom>
          <a:solidFill>
            <a:srgbClr val="D1D1D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Gait Condition Recognition </a:t>
            </a:r>
          </a:p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Multivariate Angle Data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Institute, Brown University</a:t>
            </a:r>
            <a:endParaRPr lang="en-CN" sz="2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124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55DB5-2A52-63E0-FA80-113F1D5A8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4A41A5-E62E-B50C-A67E-4623AD5C6442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37368-AC22-6E93-7EE1-A8C7E2FD62B3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3FC39-BCE2-37AE-974C-FCC1F0F33C42}"/>
              </a:ext>
            </a:extLst>
          </p:cNvPr>
          <p:cNvSpPr txBox="1"/>
          <p:nvPr/>
        </p:nvSpPr>
        <p:spPr>
          <a:xfrm>
            <a:off x="206829" y="319089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FE72E-6996-2044-8962-734CD253E7E8}"/>
              </a:ext>
            </a:extLst>
          </p:cNvPr>
          <p:cNvSpPr txBox="1"/>
          <p:nvPr/>
        </p:nvSpPr>
        <p:spPr>
          <a:xfrm>
            <a:off x="1363065" y="1378105"/>
            <a:ext cx="95270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/>
              </a:rPr>
              <a:t>UCI Machine Learning Repository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subjects x 3 conditions x 10 replications x 2 legs x 3 joints x 101 time points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3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N" sz="1600" dirty="0">
                <a:latin typeface="Times New Roman" panose="02020603050405020304" pitchFamily="18" charset="0"/>
                <a:ea typeface="Noteworthy Light" panose="02000400000000000000" pitchFamily="2" charset="77"/>
                <a:cs typeface="Times New Roman" panose="02020603050405020304" pitchFamily="18" charset="0"/>
              </a:rPr>
              <a:t>Classification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walking conditions by analyzing the joint angles of the left and right legs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unseen man)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 Dataset is not IID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structure</a:t>
            </a:r>
            <a:endParaRPr lang="en-US" sz="1600" dirty="0">
              <a:latin typeface="Times New Roman" panose="02020603050405020304" pitchFamily="18" charset="0"/>
              <a:ea typeface="Noteworthy Light" panose="02000400000000000000" pitchFamily="2" charset="77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AB00389-E2BB-E361-4971-6283071DF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520400"/>
              </p:ext>
            </p:extLst>
          </p:nvPr>
        </p:nvGraphicFramePr>
        <p:xfrm>
          <a:off x="1803401" y="4024983"/>
          <a:ext cx="6861628" cy="271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663">
                  <a:extLst>
                    <a:ext uri="{9D8B030D-6E8A-4147-A177-3AD203B41FA5}">
                      <a16:colId xmlns:a16="http://schemas.microsoft.com/office/drawing/2014/main" val="1958735644"/>
                    </a:ext>
                  </a:extLst>
                </a:gridCol>
                <a:gridCol w="5598965">
                  <a:extLst>
                    <a:ext uri="{9D8B030D-6E8A-4147-A177-3AD203B41FA5}">
                      <a16:colId xmlns:a16="http://schemas.microsoft.com/office/drawing/2014/main" val="863759054"/>
                    </a:ext>
                  </a:extLst>
                </a:gridCol>
              </a:tblGrid>
              <a:tr h="338894">
                <a:tc>
                  <a:txBody>
                    <a:bodyPr/>
                    <a:lstStyle/>
                    <a:p>
                      <a:pPr algn="ctr"/>
                      <a:r>
                        <a:rPr lang="en-CN" sz="16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627598"/>
                  </a:ext>
                </a:extLst>
              </a:tr>
              <a:tr h="338894">
                <a:tc>
                  <a:txBody>
                    <a:bodyPr/>
                    <a:lstStyle/>
                    <a:p>
                      <a:pPr algn="ctr"/>
                      <a:r>
                        <a:rPr lang="en-CN" sz="160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</a:t>
                      </a:r>
                      <a:r>
                        <a:rPr lang="en-CN" sz="1600" dirty="0"/>
                        <a:t>roup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755417"/>
                  </a:ext>
                </a:extLst>
              </a:tr>
              <a:tr h="338894">
                <a:tc>
                  <a:txBody>
                    <a:bodyPr/>
                    <a:lstStyle/>
                    <a:p>
                      <a:pPr algn="ctr"/>
                      <a:r>
                        <a:rPr lang="en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endParaRPr lang="en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unbraced, 2 = knee brace, 3 = ankle brace (integer)</a:t>
                      </a:r>
                      <a:endParaRPr lang="en-C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211483"/>
                  </a:ext>
                </a:extLst>
              </a:tr>
              <a:tr h="338894">
                <a:tc>
                  <a:txBody>
                    <a:bodyPr/>
                    <a:lstStyle/>
                    <a:p>
                      <a:pPr algn="ctr"/>
                      <a:r>
                        <a:rPr lang="en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replication </a:t>
                      </a:r>
                      <a:endParaRPr lang="en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gait cycle (0, …, 10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C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28781"/>
                  </a:ext>
                </a:extLst>
              </a:tr>
              <a:tr h="338894">
                <a:tc>
                  <a:txBody>
                    <a:bodyPr/>
                    <a:lstStyle/>
                    <a:p>
                      <a:pPr algn="ctr"/>
                      <a:r>
                        <a:rPr lang="en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leg</a:t>
                      </a:r>
                      <a:endParaRPr lang="en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left, 2 = right (integer)</a:t>
                      </a:r>
                      <a:endParaRPr lang="en-C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405868"/>
                  </a:ext>
                </a:extLst>
              </a:tr>
              <a:tr h="338894">
                <a:tc>
                  <a:txBody>
                    <a:bodyPr/>
                    <a:lstStyle/>
                    <a:p>
                      <a:pPr algn="ctr"/>
                      <a:r>
                        <a:rPr lang="en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joint</a:t>
                      </a:r>
                      <a:endParaRPr lang="en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ankle, 2 = knee, 3 = hip (integer)</a:t>
                      </a:r>
                      <a:endParaRPr lang="en-C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341466"/>
                  </a:ext>
                </a:extLst>
              </a:tr>
              <a:tr h="338894">
                <a:tc>
                  <a:txBody>
                    <a:bodyPr/>
                    <a:lstStyle/>
                    <a:p>
                      <a:pPr algn="ctr"/>
                      <a:r>
                        <a:rPr lang="en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 point</a:t>
                      </a:r>
                      <a:r>
                        <a:rPr lang="en-CN" sz="1600" dirty="0">
                          <a:effectLst/>
                        </a:rPr>
                        <a:t> </a:t>
                      </a:r>
                      <a:endParaRPr lang="en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= 0% gait cycle, …, 100 = 100% gait cycle</a:t>
                      </a:r>
                      <a:endParaRPr lang="en-C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971742"/>
                  </a:ext>
                </a:extLst>
              </a:tr>
              <a:tr h="338894">
                <a:tc>
                  <a:txBody>
                    <a:bodyPr/>
                    <a:lstStyle/>
                    <a:p>
                      <a:pPr algn="ctr"/>
                      <a:r>
                        <a:rPr lang="en-CN" sz="1600" dirty="0"/>
                        <a:t>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joint angle in degrees (real valued)</a:t>
                      </a:r>
                      <a:endParaRPr lang="en-C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21486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41B1DA-DAA0-6CF3-678F-58771BBC2663}"/>
              </a:ext>
            </a:extLst>
          </p:cNvPr>
          <p:cNvCxnSpPr>
            <a:cxnSpLocks/>
          </p:cNvCxnSpPr>
          <p:nvPr/>
        </p:nvCxnSpPr>
        <p:spPr>
          <a:xfrm>
            <a:off x="8382000" y="4894667"/>
            <a:ext cx="81543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0DB7EB8-199C-4034-B474-4AADE113FF8D}"/>
              </a:ext>
            </a:extLst>
          </p:cNvPr>
          <p:cNvSpPr txBox="1"/>
          <p:nvPr/>
        </p:nvSpPr>
        <p:spPr>
          <a:xfrm>
            <a:off x="9197439" y="4710001"/>
            <a:ext cx="253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CN" dirty="0">
                <a:solidFill>
                  <a:srgbClr val="FF0000"/>
                </a:solidFill>
              </a:rPr>
              <a:t>nly on the right side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C8B497-28CE-1A4F-6670-D04268C4DFB4}"/>
              </a:ext>
            </a:extLst>
          </p:cNvPr>
          <p:cNvSpPr/>
          <p:nvPr/>
        </p:nvSpPr>
        <p:spPr>
          <a:xfrm>
            <a:off x="1883972" y="4754719"/>
            <a:ext cx="1197429" cy="2830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CD87FF4-BA99-1267-8635-DE0CCB36C421}"/>
              </a:ext>
            </a:extLst>
          </p:cNvPr>
          <p:cNvCxnSpPr>
            <a:cxnSpLocks/>
          </p:cNvCxnSpPr>
          <p:nvPr/>
        </p:nvCxnSpPr>
        <p:spPr>
          <a:xfrm flipH="1">
            <a:off x="1352551" y="4894667"/>
            <a:ext cx="51995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025E4B3-F1D8-A597-644E-5B10E72EF78E}"/>
              </a:ext>
            </a:extLst>
          </p:cNvPr>
          <p:cNvSpPr txBox="1"/>
          <p:nvPr/>
        </p:nvSpPr>
        <p:spPr>
          <a:xfrm>
            <a:off x="562964" y="4710001"/>
            <a:ext cx="80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703260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8029-29FF-C352-8FB4-0BAC4C70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93900B-D694-01D7-52D9-43DC07104C21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5B0EA-9991-9FEE-3810-F9217DE4D6B7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72D0E9-1E40-6EC1-04EF-B9365F3CA605}"/>
              </a:ext>
            </a:extLst>
          </p:cNvPr>
          <p:cNvSpPr txBox="1"/>
          <p:nvPr/>
        </p:nvSpPr>
        <p:spPr>
          <a:xfrm>
            <a:off x="767443" y="319089"/>
            <a:ext cx="177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DE3C0-18E1-35BE-27D7-3BF3DEA07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234" y="4153849"/>
            <a:ext cx="7772400" cy="1188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4CD16B-26A0-3C05-AD9B-E21E1F470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605" y="2546635"/>
            <a:ext cx="4109030" cy="81433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A36D53-D9B9-1DF5-E345-693DB30E7CB3}"/>
              </a:ext>
            </a:extLst>
          </p:cNvPr>
          <p:cNvSpPr/>
          <p:nvPr/>
        </p:nvSpPr>
        <p:spPr>
          <a:xfrm>
            <a:off x="3300339" y="4167689"/>
            <a:ext cx="5834743" cy="1304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7A18AF-5BC2-FBC2-9746-ED91FBF52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234" y="5846411"/>
            <a:ext cx="7772400" cy="62631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4C2075-AAC7-057C-F548-85A76ECEA5CD}"/>
              </a:ext>
            </a:extLst>
          </p:cNvPr>
          <p:cNvSpPr/>
          <p:nvPr/>
        </p:nvSpPr>
        <p:spPr>
          <a:xfrm>
            <a:off x="2994474" y="4153849"/>
            <a:ext cx="283029" cy="1188462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045D63-DD84-EBBD-2ADA-41EB503F2E25}"/>
              </a:ext>
            </a:extLst>
          </p:cNvPr>
          <p:cNvSpPr txBox="1"/>
          <p:nvPr/>
        </p:nvSpPr>
        <p:spPr>
          <a:xfrm>
            <a:off x="1828800" y="3511202"/>
            <a:ext cx="538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r>
              <a:rPr lang="en-C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gregate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(AVG, std, Mean, Max, Min, Range)</a:t>
            </a:r>
            <a:endParaRPr lang="en-CN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492264-173E-EC6F-A318-4D093CA1F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4114" y="5814465"/>
            <a:ext cx="1726019" cy="6263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331CD4-2E67-7E69-FDEC-E7E94FED6C84}"/>
              </a:ext>
            </a:extLst>
          </p:cNvPr>
          <p:cNvSpPr txBox="1"/>
          <p:nvPr/>
        </p:nvSpPr>
        <p:spPr>
          <a:xfrm>
            <a:off x="9056914" y="599234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solidFill>
                  <a:schemeClr val="accent2"/>
                </a:solidFill>
              </a:rPr>
              <a:t>+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4FBDCD-4C23-6C1D-8769-9188908327EA}"/>
              </a:ext>
            </a:extLst>
          </p:cNvPr>
          <p:cNvCxnSpPr/>
          <p:nvPr/>
        </p:nvCxnSpPr>
        <p:spPr>
          <a:xfrm flipV="1">
            <a:off x="10377123" y="5023518"/>
            <a:ext cx="0" cy="68580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32BA6E-62F5-9F76-8B4E-E4344DE36178}"/>
              </a:ext>
            </a:extLst>
          </p:cNvPr>
          <p:cNvSpPr txBox="1"/>
          <p:nvPr/>
        </p:nvSpPr>
        <p:spPr>
          <a:xfrm>
            <a:off x="9516844" y="4663167"/>
            <a:ext cx="2188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ea typeface="Noteworthy Light" panose="02000400000000000000" pitchFamily="2" charset="77"/>
                <a:cs typeface="Times New Roman" panose="02020603050405020304" pitchFamily="18" charset="0"/>
              </a:rPr>
              <a:t>To highlight asymmetry</a:t>
            </a:r>
            <a:endParaRPr lang="en-CN" sz="1400" dirty="0">
              <a:solidFill>
                <a:schemeClr val="accent2"/>
              </a:solidFill>
              <a:latin typeface="Times New Roman" panose="02020603050405020304" pitchFamily="18" charset="0"/>
              <a:ea typeface="Noteworthy Light" panose="02000400000000000000" pitchFamily="2" charset="77"/>
              <a:cs typeface="Times New Roman" panose="02020603050405020304" pitchFamily="18" charset="0"/>
            </a:endParaRPr>
          </a:p>
        </p:txBody>
      </p:sp>
      <p:sp>
        <p:nvSpPr>
          <p:cNvPr id="26" name="Moon 25">
            <a:extLst>
              <a:ext uri="{FF2B5EF4-FFF2-40B4-BE49-F238E27FC236}">
                <a16:creationId xmlns:a16="http://schemas.microsoft.com/office/drawing/2014/main" id="{6037347E-DD57-742B-7AAC-57424B56722E}"/>
              </a:ext>
            </a:extLst>
          </p:cNvPr>
          <p:cNvSpPr/>
          <p:nvPr/>
        </p:nvSpPr>
        <p:spPr>
          <a:xfrm>
            <a:off x="810830" y="4631368"/>
            <a:ext cx="146956" cy="1571694"/>
          </a:xfrm>
          <a:prstGeom prst="mo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A665C6B8-7EF2-5B96-782F-6DC0A81DD1CE}"/>
              </a:ext>
            </a:extLst>
          </p:cNvPr>
          <p:cNvSpPr/>
          <p:nvPr/>
        </p:nvSpPr>
        <p:spPr>
          <a:xfrm rot="7406973">
            <a:off x="828843" y="6072940"/>
            <a:ext cx="402039" cy="18247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A4DAB2-2090-EC8A-EDE0-BB99F85015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310" y="147842"/>
            <a:ext cx="4569861" cy="3671804"/>
          </a:xfrm>
          <a:prstGeom prst="rect">
            <a:avLst/>
          </a:prstGeom>
        </p:spPr>
      </p:pic>
      <p:sp>
        <p:nvSpPr>
          <p:cNvPr id="13" name="Moon 12">
            <a:extLst>
              <a:ext uri="{FF2B5EF4-FFF2-40B4-BE49-F238E27FC236}">
                <a16:creationId xmlns:a16="http://schemas.microsoft.com/office/drawing/2014/main" id="{685927F7-F768-C110-EA9E-3C0FF6D81721}"/>
              </a:ext>
            </a:extLst>
          </p:cNvPr>
          <p:cNvSpPr/>
          <p:nvPr/>
        </p:nvSpPr>
        <p:spPr>
          <a:xfrm>
            <a:off x="727939" y="2912341"/>
            <a:ext cx="146956" cy="1571694"/>
          </a:xfrm>
          <a:prstGeom prst="mo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AAD675EB-C727-2C3A-919E-6AB17D3CAB4D}"/>
              </a:ext>
            </a:extLst>
          </p:cNvPr>
          <p:cNvSpPr/>
          <p:nvPr/>
        </p:nvSpPr>
        <p:spPr>
          <a:xfrm rot="7406973">
            <a:off x="745952" y="4353913"/>
            <a:ext cx="402039" cy="18247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7144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A642A-92B9-EC1F-2664-2DB45BD0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6343CF-23BE-5DEB-D030-58B1B998C7C2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0FE92-0C86-A5C6-41DF-ACB3A3148AF5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7DBA4-9F77-93FD-8C21-7699072EDA80}"/>
              </a:ext>
            </a:extLst>
          </p:cNvPr>
          <p:cNvSpPr txBox="1"/>
          <p:nvPr/>
        </p:nvSpPr>
        <p:spPr>
          <a:xfrm>
            <a:off x="1211036" y="319089"/>
            <a:ext cx="887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FE3DDA5-684B-3FDC-107C-4A393E5531C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34215" y="-3801858"/>
            <a:ext cx="69728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CN" altLang="en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group of graphs showing different angles&#10;&#10;AI-generated content may be incorrect.">
            <a:extLst>
              <a:ext uri="{FF2B5EF4-FFF2-40B4-BE49-F238E27FC236}">
                <a16:creationId xmlns:a16="http://schemas.microsoft.com/office/drawing/2014/main" id="{A2E0D460-AAB7-1BE3-BAAC-255B9F421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213" y="591213"/>
            <a:ext cx="6764008" cy="55945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50FB81-7B02-2CA6-1C10-9A45192D59EE}"/>
              </a:ext>
            </a:extLst>
          </p:cNvPr>
          <p:cNvSpPr txBox="1"/>
          <p:nvPr/>
        </p:nvSpPr>
        <p:spPr>
          <a:xfrm>
            <a:off x="206828" y="2707341"/>
            <a:ext cx="42934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different joints move very differently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braces clearly restrict 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different conditions are pretty easy to tell apart.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45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7777-C032-745C-2B08-C94D4393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B1F814-8375-2A73-ADC8-F9D7D2A508C9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B37304-04F4-EFF2-A972-4335B666672F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DE4628-39A0-A0E6-4BAB-3F270AB7D769}"/>
              </a:ext>
            </a:extLst>
          </p:cNvPr>
          <p:cNvSpPr txBox="1"/>
          <p:nvPr/>
        </p:nvSpPr>
        <p:spPr>
          <a:xfrm>
            <a:off x="767443" y="319089"/>
            <a:ext cx="177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Restructure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99457F-9252-28C1-3E30-E55E6CA2E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79" y="2286000"/>
            <a:ext cx="5295900" cy="228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D5370F-03F0-C0D0-CD63-DE9446DE2D70}"/>
              </a:ext>
            </a:extLst>
          </p:cNvPr>
          <p:cNvSpPr txBox="1"/>
          <p:nvPr/>
        </p:nvSpPr>
        <p:spPr>
          <a:xfrm>
            <a:off x="6441621" y="2657475"/>
            <a:ext cx="5295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pain and stiffness make it difficult to collect data from the affected leg</a:t>
            </a:r>
            <a:endParaRPr lang="en-US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predict the right-leg condition using only features from the left leg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982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384B3-CBBD-81C2-C2B7-1A18751C2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A289F4-BACB-78A1-6E8A-A1719FD1904B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0EE62A-BDB0-BC30-65F6-3AE3B26576BB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A81E7E-7442-3C2A-CBC0-66CDCEC5AB96}"/>
              </a:ext>
            </a:extLst>
          </p:cNvPr>
          <p:cNvSpPr txBox="1"/>
          <p:nvPr/>
        </p:nvSpPr>
        <p:spPr>
          <a:xfrm>
            <a:off x="930729" y="365133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5F4FEA-EE68-4322-F1E1-F10622877583}"/>
              </a:ext>
            </a:extLst>
          </p:cNvPr>
          <p:cNvSpPr/>
          <p:nvPr/>
        </p:nvSpPr>
        <p:spPr>
          <a:xfrm>
            <a:off x="7620637" y="365133"/>
            <a:ext cx="153084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Dataset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B28F06-7376-EF3E-A5F1-26C0EE42E7D6}"/>
              </a:ext>
            </a:extLst>
          </p:cNvPr>
          <p:cNvSpPr/>
          <p:nvPr/>
        </p:nvSpPr>
        <p:spPr>
          <a:xfrm>
            <a:off x="2852355" y="2539793"/>
            <a:ext cx="153084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Train_Val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EC864E-4B30-7BAF-03E6-2AAE7D3E63CE}"/>
              </a:ext>
            </a:extLst>
          </p:cNvPr>
          <p:cNvSpPr/>
          <p:nvPr/>
        </p:nvSpPr>
        <p:spPr>
          <a:xfrm>
            <a:off x="2852355" y="3184029"/>
            <a:ext cx="153084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Group K Fold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16B33F-81AC-1323-2B0B-C1348D1C62AE}"/>
              </a:ext>
            </a:extLst>
          </p:cNvPr>
          <p:cNvSpPr/>
          <p:nvPr/>
        </p:nvSpPr>
        <p:spPr>
          <a:xfrm>
            <a:off x="2852355" y="3861466"/>
            <a:ext cx="153084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Prepocess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222FFD-B9F2-D0AD-B653-3C85E6FC8668}"/>
              </a:ext>
            </a:extLst>
          </p:cNvPr>
          <p:cNvSpPr/>
          <p:nvPr/>
        </p:nvSpPr>
        <p:spPr>
          <a:xfrm>
            <a:off x="2708327" y="4522575"/>
            <a:ext cx="181803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Parameter Grid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D7120C-10EA-0408-4108-34AA585A5238}"/>
              </a:ext>
            </a:extLst>
          </p:cNvPr>
          <p:cNvSpPr/>
          <p:nvPr/>
        </p:nvSpPr>
        <p:spPr>
          <a:xfrm>
            <a:off x="1470763" y="6190194"/>
            <a:ext cx="153084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Fit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FC4C11-A97F-A835-D10A-8C1F3E20C1D7}"/>
              </a:ext>
            </a:extLst>
          </p:cNvPr>
          <p:cNvSpPr/>
          <p:nvPr/>
        </p:nvSpPr>
        <p:spPr>
          <a:xfrm>
            <a:off x="1470763" y="5447948"/>
            <a:ext cx="153084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Train CV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A329BC-7D1B-3CA1-D694-32A3B6C84430}"/>
              </a:ext>
            </a:extLst>
          </p:cNvPr>
          <p:cNvSpPr/>
          <p:nvPr/>
        </p:nvSpPr>
        <p:spPr>
          <a:xfrm>
            <a:off x="9006522" y="4191627"/>
            <a:ext cx="153084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Test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D67E64-5C9B-7385-1E10-5B1E1FBEDF50}"/>
              </a:ext>
            </a:extLst>
          </p:cNvPr>
          <p:cNvSpPr/>
          <p:nvPr/>
        </p:nvSpPr>
        <p:spPr>
          <a:xfrm>
            <a:off x="9006522" y="5728528"/>
            <a:ext cx="153084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Evaluation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4DD7BE-078D-7529-15F6-F4CF43A520B4}"/>
              </a:ext>
            </a:extLst>
          </p:cNvPr>
          <p:cNvSpPr/>
          <p:nvPr/>
        </p:nvSpPr>
        <p:spPr>
          <a:xfrm>
            <a:off x="6961987" y="4092298"/>
            <a:ext cx="1530849" cy="7194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Best Parameter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972DFA-4E3F-78D1-A08F-5CCC923025F8}"/>
              </a:ext>
            </a:extLst>
          </p:cNvPr>
          <p:cNvSpPr/>
          <p:nvPr/>
        </p:nvSpPr>
        <p:spPr>
          <a:xfrm>
            <a:off x="4219680" y="6190193"/>
            <a:ext cx="153084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Val CV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5B4060-B23C-5348-F7D0-336E40E3F970}"/>
              </a:ext>
            </a:extLst>
          </p:cNvPr>
          <p:cNvSpPr/>
          <p:nvPr/>
        </p:nvSpPr>
        <p:spPr>
          <a:xfrm>
            <a:off x="7353511" y="1647553"/>
            <a:ext cx="20651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Group Shuffle Split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2898D5-2A21-F431-5ACD-84514F8CFDAE}"/>
              </a:ext>
            </a:extLst>
          </p:cNvPr>
          <p:cNvSpPr/>
          <p:nvPr/>
        </p:nvSpPr>
        <p:spPr>
          <a:xfrm>
            <a:off x="7469095" y="1005598"/>
            <a:ext cx="183393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Random States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B37DDFF-1A76-77BE-A19E-43F02E6F839D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386062" y="826798"/>
            <a:ext cx="0" cy="178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3C71D49-1B47-6783-1E32-0AE70880DF99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8386061" y="1467263"/>
            <a:ext cx="0" cy="1767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2639B5C-D430-0DA8-B13A-475DFEA8D1FE}"/>
              </a:ext>
            </a:extLst>
          </p:cNvPr>
          <p:cNvCxnSpPr>
            <a:cxnSpLocks/>
          </p:cNvCxnSpPr>
          <p:nvPr/>
        </p:nvCxnSpPr>
        <p:spPr>
          <a:xfrm>
            <a:off x="8386061" y="2120440"/>
            <a:ext cx="0" cy="2162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73FDD7-B07D-3385-E702-3AA3CC339ACA}"/>
              </a:ext>
            </a:extLst>
          </p:cNvPr>
          <p:cNvCxnSpPr>
            <a:cxnSpLocks/>
          </p:cNvCxnSpPr>
          <p:nvPr/>
        </p:nvCxnSpPr>
        <p:spPr>
          <a:xfrm flipH="1">
            <a:off x="3617782" y="2330116"/>
            <a:ext cx="61537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0DF7D38-B3E8-6327-5B88-5C4712DAB25A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3617780" y="2330116"/>
            <a:ext cx="2" cy="209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D198DA-C4B7-99B2-79F5-7B2003A515F5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3617780" y="3001458"/>
            <a:ext cx="0" cy="1825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D84D451-662E-6425-3C87-11663CAF9416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3617780" y="3645694"/>
            <a:ext cx="0" cy="215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EA35FF5-EDAB-4E7F-A8DF-CC2EB1E1C84A}"/>
              </a:ext>
            </a:extLst>
          </p:cNvPr>
          <p:cNvCxnSpPr>
            <a:cxnSpLocks/>
          </p:cNvCxnSpPr>
          <p:nvPr/>
        </p:nvCxnSpPr>
        <p:spPr>
          <a:xfrm>
            <a:off x="3617346" y="4323131"/>
            <a:ext cx="0" cy="1986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12EDB82-1F49-5C18-1C81-E7166CD7AFB5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9771947" y="2336739"/>
            <a:ext cx="0" cy="1854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BADDFC5-2D10-7112-70BA-C814E9CAE8AE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9771947" y="4653292"/>
            <a:ext cx="0" cy="1075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0F85701-1319-7792-6FF1-1C6222FCBA08}"/>
              </a:ext>
            </a:extLst>
          </p:cNvPr>
          <p:cNvCxnSpPr>
            <a:cxnSpLocks/>
          </p:cNvCxnSpPr>
          <p:nvPr/>
        </p:nvCxnSpPr>
        <p:spPr>
          <a:xfrm flipH="1">
            <a:off x="3617345" y="5260488"/>
            <a:ext cx="13811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143DE5C-9183-780B-96BD-62B9D39A87ED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3617346" y="4984240"/>
            <a:ext cx="0" cy="2762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66DAC64-9DB6-8F2B-FD5A-7FA752D5C7AC}"/>
              </a:ext>
            </a:extLst>
          </p:cNvPr>
          <p:cNvCxnSpPr>
            <a:cxnSpLocks/>
          </p:cNvCxnSpPr>
          <p:nvPr/>
        </p:nvCxnSpPr>
        <p:spPr>
          <a:xfrm>
            <a:off x="2236187" y="5260488"/>
            <a:ext cx="13811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8ECF194-0B86-8860-4FDA-A361D5B5F727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2236187" y="5260488"/>
            <a:ext cx="1" cy="187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A71F8C0-59B9-1877-B8C3-D82117D4FC7D}"/>
              </a:ext>
            </a:extLst>
          </p:cNvPr>
          <p:cNvCxnSpPr>
            <a:cxnSpLocks/>
          </p:cNvCxnSpPr>
          <p:nvPr/>
        </p:nvCxnSpPr>
        <p:spPr>
          <a:xfrm>
            <a:off x="4998957" y="5263675"/>
            <a:ext cx="0" cy="929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6F4F991-4D3B-C2BA-DE18-FE715126BF80}"/>
              </a:ext>
            </a:extLst>
          </p:cNvPr>
          <p:cNvCxnSpPr>
            <a:cxnSpLocks/>
            <a:stCxn id="20" idx="2"/>
            <a:endCxn id="19" idx="0"/>
          </p:cNvCxnSpPr>
          <p:nvPr/>
        </p:nvCxnSpPr>
        <p:spPr>
          <a:xfrm>
            <a:off x="2236188" y="5909613"/>
            <a:ext cx="0" cy="280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DDBCFD4C-BABF-B60A-3533-B12631E701D3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 flipV="1">
            <a:off x="3001612" y="6421026"/>
            <a:ext cx="12180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0424F61B-904A-3557-D4BC-F30BC5E77A69}"/>
              </a:ext>
            </a:extLst>
          </p:cNvPr>
          <p:cNvCxnSpPr>
            <a:stCxn id="24" idx="3"/>
            <a:endCxn id="23" idx="1"/>
          </p:cNvCxnSpPr>
          <p:nvPr/>
        </p:nvCxnSpPr>
        <p:spPr>
          <a:xfrm flipV="1">
            <a:off x="5750529" y="4452025"/>
            <a:ext cx="1211458" cy="1969001"/>
          </a:xfrm>
          <a:prstGeom prst="bentConnector3">
            <a:avLst>
              <a:gd name="adj1" fmla="val 2941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A4F6F47-8496-5C06-BE61-52081F5D14F0}"/>
              </a:ext>
            </a:extLst>
          </p:cNvPr>
          <p:cNvCxnSpPr>
            <a:cxnSpLocks/>
          </p:cNvCxnSpPr>
          <p:nvPr/>
        </p:nvCxnSpPr>
        <p:spPr>
          <a:xfrm>
            <a:off x="8492836" y="4422459"/>
            <a:ext cx="502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3A4F19B-FA6C-3A05-4445-CFF93EB63F5E}"/>
              </a:ext>
            </a:extLst>
          </p:cNvPr>
          <p:cNvSpPr/>
          <p:nvPr/>
        </p:nvSpPr>
        <p:spPr>
          <a:xfrm>
            <a:off x="734290" y="1953490"/>
            <a:ext cx="5853788" cy="4807527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256454C-0D89-F170-6810-76D7926E7E93}"/>
              </a:ext>
            </a:extLst>
          </p:cNvPr>
          <p:cNvCxnSpPr>
            <a:cxnSpLocks/>
          </p:cNvCxnSpPr>
          <p:nvPr/>
        </p:nvCxnSpPr>
        <p:spPr>
          <a:xfrm>
            <a:off x="5250873" y="1467263"/>
            <a:ext cx="0" cy="48622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114B6A22-76C8-77AB-32F5-C0BF5B242F0C}"/>
              </a:ext>
            </a:extLst>
          </p:cNvPr>
          <p:cNvSpPr txBox="1"/>
          <p:nvPr/>
        </p:nvSpPr>
        <p:spPr>
          <a:xfrm>
            <a:off x="3552095" y="804106"/>
            <a:ext cx="3344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Find highest validation accuracy</a:t>
            </a:r>
          </a:p>
          <a:p>
            <a:pPr algn="ctr"/>
            <a:r>
              <a:rPr lang="en-US" dirty="0"/>
              <a:t>For each model</a:t>
            </a:r>
          </a:p>
        </p:txBody>
      </p:sp>
    </p:spTree>
    <p:extLst>
      <p:ext uri="{BB962C8B-B14F-4D97-AF65-F5344CB8AC3E}">
        <p14:creationId xmlns:p14="http://schemas.microsoft.com/office/powerpoint/2010/main" val="429223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E3A82-501A-9860-FDF8-E83240EDA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453085-FFC3-C192-CC6D-60696E4B3E39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D9D23B-B2E5-F323-0584-E0BFE7A47A6F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5FCB9-3C48-AB5D-69ED-EE61F80C28A2}"/>
              </a:ext>
            </a:extLst>
          </p:cNvPr>
          <p:cNvSpPr txBox="1"/>
          <p:nvPr/>
        </p:nvSpPr>
        <p:spPr>
          <a:xfrm>
            <a:off x="206829" y="319089"/>
            <a:ext cx="324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&amp; Parameters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28693B-FEFF-C3C8-BE3C-12F097C4B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163474"/>
              </p:ext>
            </p:extLst>
          </p:nvPr>
        </p:nvGraphicFramePr>
        <p:xfrm>
          <a:off x="470807" y="1959718"/>
          <a:ext cx="11028466" cy="293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54">
                  <a:extLst>
                    <a:ext uri="{9D8B030D-6E8A-4147-A177-3AD203B41FA5}">
                      <a16:colId xmlns:a16="http://schemas.microsoft.com/office/drawing/2014/main" val="603079994"/>
                    </a:ext>
                  </a:extLst>
                </a:gridCol>
                <a:gridCol w="2064327">
                  <a:extLst>
                    <a:ext uri="{9D8B030D-6E8A-4147-A177-3AD203B41FA5}">
                      <a16:colId xmlns:a16="http://schemas.microsoft.com/office/drawing/2014/main" val="2774196027"/>
                    </a:ext>
                  </a:extLst>
                </a:gridCol>
                <a:gridCol w="2272146">
                  <a:extLst>
                    <a:ext uri="{9D8B030D-6E8A-4147-A177-3AD203B41FA5}">
                      <a16:colId xmlns:a16="http://schemas.microsoft.com/office/drawing/2014/main" val="1549270293"/>
                    </a:ext>
                  </a:extLst>
                </a:gridCol>
                <a:gridCol w="2161309">
                  <a:extLst>
                    <a:ext uri="{9D8B030D-6E8A-4147-A177-3AD203B41FA5}">
                      <a16:colId xmlns:a16="http://schemas.microsoft.com/office/drawing/2014/main" val="1914522665"/>
                    </a:ext>
                  </a:extLst>
                </a:gridCol>
                <a:gridCol w="1343725">
                  <a:extLst>
                    <a:ext uri="{9D8B030D-6E8A-4147-A177-3AD203B41FA5}">
                      <a16:colId xmlns:a16="http://schemas.microsoft.com/office/drawing/2014/main" val="2526525078"/>
                    </a:ext>
                  </a:extLst>
                </a:gridCol>
                <a:gridCol w="1468005">
                  <a:extLst>
                    <a:ext uri="{9D8B030D-6E8A-4147-A177-3AD203B41FA5}">
                      <a16:colId xmlns:a16="http://schemas.microsoft.com/office/drawing/2014/main" val="1034495501"/>
                    </a:ext>
                  </a:extLst>
                </a:gridCol>
              </a:tblGrid>
              <a:tr h="82020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ysClr val="windowText" lastClr="000000"/>
                          </a:solidFill>
                        </a:rPr>
                        <a:t>Random</a:t>
                      </a:r>
                    </a:p>
                    <a:p>
                      <a:pPr algn="ctr"/>
                      <a:r>
                        <a:rPr lang="en-US" sz="1800" b="1" i="0" dirty="0">
                          <a:solidFill>
                            <a:sysClr val="windowText" lastClr="000000"/>
                          </a:solidFill>
                        </a:rPr>
                        <a:t>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 err="1">
                          <a:solidFill>
                            <a:sysClr val="windowText" lastClr="000000"/>
                          </a:solidFill>
                        </a:rPr>
                        <a:t>XGBoost</a:t>
                      </a:r>
                      <a:endParaRPr lang="en-US" sz="1800" b="1" i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ysClr val="windowText" lastClr="000000"/>
                          </a:solidFill>
                        </a:rPr>
                        <a:t>SVC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ysClr val="windowText" lastClr="000000"/>
                          </a:solidFill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220933"/>
                  </a:ext>
                </a:extLst>
              </a:tr>
              <a:tr h="4751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Parameters tuned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max_depth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min_samples_split</a:t>
                      </a:r>
                      <a:endParaRPr lang="en-US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n_estimators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max_depth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max_features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min_samples_split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min_samples_leaf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n_estimators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max_depth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learning_rate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subsample;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min_child_weight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colsample_bytree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C;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gamma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C;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800" b="0" dirty="0" err="1">
                          <a:solidFill>
                            <a:sysClr val="windowText" lastClr="000000"/>
                          </a:solidFill>
                        </a:rPr>
                        <a:t>max_iter</a:t>
                      </a:r>
                      <a:endParaRPr lang="en-US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8843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A996FC1-5F3E-1730-7E34-2D0610EAB087}"/>
              </a:ext>
            </a:extLst>
          </p:cNvPr>
          <p:cNvSpPr txBox="1"/>
          <p:nvPr/>
        </p:nvSpPr>
        <p:spPr>
          <a:xfrm>
            <a:off x="470807" y="5384746"/>
            <a:ext cx="5145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small max depth</a:t>
            </a:r>
          </a:p>
          <a:p>
            <a:pPr lvl="0">
              <a:defRPr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large minimum number of samples required to split a node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44287F-39BF-B352-93F6-051916D437EC}"/>
              </a:ext>
            </a:extLst>
          </p:cNvPr>
          <p:cNvCxnSpPr/>
          <p:nvPr/>
        </p:nvCxnSpPr>
        <p:spPr>
          <a:xfrm flipV="1">
            <a:off x="3102429" y="4374776"/>
            <a:ext cx="0" cy="77096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BDC7E5-62F6-5DFB-DBC1-DD97231050CD}"/>
              </a:ext>
            </a:extLst>
          </p:cNvPr>
          <p:cNvSpPr txBox="1"/>
          <p:nvPr/>
        </p:nvSpPr>
        <p:spPr>
          <a:xfrm>
            <a:off x="3448793" y="421091"/>
            <a:ext cx="8381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increasing the number of trees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itchFamily="2" charset="2"/>
              </a:rPr>
              <a:t>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reduce variance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limit the depth of each tree and increase the minimum number of samples required for splitting and for leaf nodes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itchFamily="2" charset="2"/>
              </a:rPr>
              <a:t>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prevent overfitting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 features to increase randomness across trees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itchFamily="2" charset="2"/>
              </a:rPr>
              <a:t>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reduce variance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B6B17D-7536-AA7F-7D57-434D3D967BEE}"/>
              </a:ext>
            </a:extLst>
          </p:cNvPr>
          <p:cNvCxnSpPr>
            <a:cxnSpLocks/>
          </p:cNvCxnSpPr>
          <p:nvPr/>
        </p:nvCxnSpPr>
        <p:spPr>
          <a:xfrm>
            <a:off x="5365537" y="1647967"/>
            <a:ext cx="0" cy="31175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F7624B-E70A-AA07-3F84-CA9CE99459FE}"/>
              </a:ext>
            </a:extLst>
          </p:cNvPr>
          <p:cNvSpPr txBox="1"/>
          <p:nvPr/>
        </p:nvSpPr>
        <p:spPr>
          <a:xfrm>
            <a:off x="5128452" y="6064413"/>
            <a:ext cx="4643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early stopping and fix the number of trees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very small learning rates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E0C2C84-6711-9F23-6B6F-0A1263BF49FE}"/>
              </a:ext>
            </a:extLst>
          </p:cNvPr>
          <p:cNvCxnSpPr>
            <a:cxnSpLocks/>
          </p:cNvCxnSpPr>
          <p:nvPr/>
        </p:nvCxnSpPr>
        <p:spPr>
          <a:xfrm flipV="1">
            <a:off x="7450311" y="4898281"/>
            <a:ext cx="0" cy="94813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6FB5AAF-8E72-AF70-13D8-2A1F2838E9B8}"/>
              </a:ext>
            </a:extLst>
          </p:cNvPr>
          <p:cNvSpPr txBox="1"/>
          <p:nvPr/>
        </p:nvSpPr>
        <p:spPr>
          <a:xfrm>
            <a:off x="9964429" y="5058639"/>
            <a:ext cx="555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22D003-A7D1-9EB2-BC28-E4610FD1EF3C}"/>
              </a:ext>
            </a:extLst>
          </p:cNvPr>
          <p:cNvCxnSpPr>
            <a:cxnSpLocks/>
          </p:cNvCxnSpPr>
          <p:nvPr/>
        </p:nvCxnSpPr>
        <p:spPr>
          <a:xfrm flipH="1" flipV="1">
            <a:off x="9350829" y="4287673"/>
            <a:ext cx="613600" cy="77096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3F20733-A58B-EA0E-3E1D-F5B7FED672FE}"/>
              </a:ext>
            </a:extLst>
          </p:cNvPr>
          <p:cNvCxnSpPr>
            <a:cxnSpLocks/>
          </p:cNvCxnSpPr>
          <p:nvPr/>
        </p:nvCxnSpPr>
        <p:spPr>
          <a:xfrm flipV="1">
            <a:off x="10260265" y="4287674"/>
            <a:ext cx="551811" cy="77096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9E37D7B-C9EE-EFBD-4A0D-D368FE42CA04}"/>
              </a:ext>
            </a:extLst>
          </p:cNvPr>
          <p:cNvCxnSpPr>
            <a:cxnSpLocks/>
          </p:cNvCxnSpPr>
          <p:nvPr/>
        </p:nvCxnSpPr>
        <p:spPr>
          <a:xfrm flipV="1">
            <a:off x="9162570" y="4370163"/>
            <a:ext cx="0" cy="94813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0F331E3-48BA-1FBA-4255-4CFFE2C60D41}"/>
              </a:ext>
            </a:extLst>
          </p:cNvPr>
          <p:cNvSpPr txBox="1"/>
          <p:nvPr/>
        </p:nvSpPr>
        <p:spPr>
          <a:xfrm>
            <a:off x="8237045" y="5272126"/>
            <a:ext cx="2841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balance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between bias and variance</a:t>
            </a:r>
          </a:p>
        </p:txBody>
      </p:sp>
    </p:spTree>
    <p:extLst>
      <p:ext uri="{BB962C8B-B14F-4D97-AF65-F5344CB8AC3E}">
        <p14:creationId xmlns:p14="http://schemas.microsoft.com/office/powerpoint/2010/main" val="1454010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F758-D7EC-D9C4-C76A-405EF3C8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F9B32F-E4DB-C81E-867F-91C2D8321885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60892-AC5F-8765-7ED5-30C65E89F520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E0980-F869-870E-75CC-E1A9DF05380E}"/>
              </a:ext>
            </a:extLst>
          </p:cNvPr>
          <p:cNvSpPr txBox="1"/>
          <p:nvPr/>
        </p:nvSpPr>
        <p:spPr>
          <a:xfrm>
            <a:off x="802080" y="319089"/>
            <a:ext cx="1705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</p:txBody>
      </p:sp>
      <p:pic>
        <p:nvPicPr>
          <p:cNvPr id="4" name="Picture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6AA566D7-238F-C825-34C6-11E06AEA4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29" y="1425697"/>
            <a:ext cx="3585441" cy="2423960"/>
          </a:xfrm>
          <a:prstGeom prst="rect">
            <a:avLst/>
          </a:prstGeom>
        </p:spPr>
      </p:pic>
      <p:pic>
        <p:nvPicPr>
          <p:cNvPr id="8" name="Picture 7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08A5460C-0CAB-BBF8-0C6A-055B66826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068" y="4010529"/>
            <a:ext cx="3973864" cy="26865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A1F6E7-01F4-616A-7159-EA1843066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00" y="1425697"/>
            <a:ext cx="3628726" cy="2423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094C1A-C03C-22D2-4661-B495BBBA9D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2068" y="4001967"/>
            <a:ext cx="3973864" cy="26865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15683F-751B-473B-FEF6-0E7EA57BB5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8056" y="1425697"/>
            <a:ext cx="3585443" cy="24239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8CE8F0A-61E7-4E1B-33BD-7899636CDB57}"/>
              </a:ext>
            </a:extLst>
          </p:cNvPr>
          <p:cNvSpPr/>
          <p:nvPr/>
        </p:nvSpPr>
        <p:spPr>
          <a:xfrm>
            <a:off x="2507178" y="2929180"/>
            <a:ext cx="595251" cy="3758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299848-7CF1-43B0-37E7-DC35763AFF6D}"/>
              </a:ext>
            </a:extLst>
          </p:cNvPr>
          <p:cNvSpPr/>
          <p:nvPr/>
        </p:nvSpPr>
        <p:spPr>
          <a:xfrm>
            <a:off x="5500136" y="3101599"/>
            <a:ext cx="595251" cy="3758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14017-79A0-53C8-C3D9-927F0CB497D7}"/>
              </a:ext>
            </a:extLst>
          </p:cNvPr>
          <p:cNvSpPr/>
          <p:nvPr/>
        </p:nvSpPr>
        <p:spPr>
          <a:xfrm>
            <a:off x="4658859" y="5654299"/>
            <a:ext cx="595251" cy="3758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C233B8-AD6B-1554-DAE1-165FDC1EEC11}"/>
              </a:ext>
            </a:extLst>
          </p:cNvPr>
          <p:cNvSpPr/>
          <p:nvPr/>
        </p:nvSpPr>
        <p:spPr>
          <a:xfrm>
            <a:off x="8502439" y="5654299"/>
            <a:ext cx="595251" cy="3758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B5432A-42C0-6332-BA76-AAF48C8B0C1A}"/>
              </a:ext>
            </a:extLst>
          </p:cNvPr>
          <p:cNvSpPr/>
          <p:nvPr/>
        </p:nvSpPr>
        <p:spPr>
          <a:xfrm>
            <a:off x="10926306" y="2789695"/>
            <a:ext cx="837194" cy="31190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24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3D72-2DD4-8B79-0D4E-2FFE93480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1CA86A-67DE-1F08-AB9B-56F33D9191DA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3BDB6-ECBA-060D-9852-464156516555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4225D4-1BFD-F613-C472-20E248633D1D}"/>
              </a:ext>
            </a:extLst>
          </p:cNvPr>
          <p:cNvSpPr txBox="1"/>
          <p:nvPr/>
        </p:nvSpPr>
        <p:spPr>
          <a:xfrm>
            <a:off x="365785" y="334221"/>
            <a:ext cx="2577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Original Paper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5B2AC-3C75-532D-B993-06CD88CDAF46}"/>
              </a:ext>
            </a:extLst>
          </p:cNvPr>
          <p:cNvSpPr txBox="1"/>
          <p:nvPr/>
        </p:nvSpPr>
        <p:spPr>
          <a:xfrm>
            <a:off x="3236258" y="1804455"/>
            <a:ext cx="503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Significant deviation from the mean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82055B-D077-32F3-0EF0-1CC3B170B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19285"/>
            <a:ext cx="7653719" cy="25457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169B1E-E159-361B-64E4-60877682B920}"/>
              </a:ext>
            </a:extLst>
          </p:cNvPr>
          <p:cNvSpPr txBox="1"/>
          <p:nvPr/>
        </p:nvSpPr>
        <p:spPr>
          <a:xfrm>
            <a:off x="1907111" y="5404853"/>
            <a:ext cx="5709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Hip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l-GR" sz="2400" dirty="0">
                <a:solidFill>
                  <a:schemeClr val="accent6"/>
                </a:solidFill>
              </a:rPr>
              <a:t>→ </a:t>
            </a:r>
            <a:r>
              <a:rPr lang="en-US" sz="2400" dirty="0">
                <a:solidFill>
                  <a:schemeClr val="accent6"/>
                </a:solidFill>
              </a:rPr>
              <a:t>signal slightly stronger than noise</a:t>
            </a:r>
          </a:p>
          <a:p>
            <a:r>
              <a:rPr lang="en-US" sz="2400" dirty="0">
                <a:solidFill>
                  <a:schemeClr val="accent6"/>
                </a:solidFill>
              </a:rPr>
              <a:t>Knee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l-GR" sz="2400" dirty="0">
                <a:solidFill>
                  <a:schemeClr val="accent6"/>
                </a:solidFill>
              </a:rPr>
              <a:t>→ </a:t>
            </a:r>
            <a:r>
              <a:rPr lang="en-US" sz="2400" dirty="0">
                <a:solidFill>
                  <a:schemeClr val="accent6"/>
                </a:solidFill>
              </a:rPr>
              <a:t>noise dominates</a:t>
            </a:r>
          </a:p>
          <a:p>
            <a:r>
              <a:rPr lang="en-US" sz="2400" dirty="0">
                <a:solidFill>
                  <a:schemeClr val="accent6"/>
                </a:solidFill>
              </a:rPr>
              <a:t>Ankle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l-GR" sz="2400" dirty="0">
                <a:solidFill>
                  <a:schemeClr val="accent6"/>
                </a:solidFill>
              </a:rPr>
              <a:t>→ </a:t>
            </a:r>
            <a:r>
              <a:rPr lang="en-US" sz="2400" dirty="0">
                <a:solidFill>
                  <a:schemeClr val="accent6"/>
                </a:solidFill>
              </a:rPr>
              <a:t>noise strongly dominates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FD4470-52F2-6B28-D274-B4D092F059B8}"/>
              </a:ext>
            </a:extLst>
          </p:cNvPr>
          <p:cNvSpPr txBox="1"/>
          <p:nvPr/>
        </p:nvSpPr>
        <p:spPr>
          <a:xfrm>
            <a:off x="7653719" y="3429000"/>
            <a:ext cx="4031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Hip→ moderately repeatable</a:t>
            </a:r>
          </a:p>
          <a:p>
            <a:r>
              <a:rPr lang="en-US" sz="2400" dirty="0">
                <a:solidFill>
                  <a:schemeClr val="accent4"/>
                </a:solidFill>
              </a:rPr>
              <a:t>Knee→ low repeatability</a:t>
            </a:r>
          </a:p>
          <a:p>
            <a:r>
              <a:rPr lang="en-US" sz="2400" dirty="0">
                <a:solidFill>
                  <a:schemeClr val="accent4"/>
                </a:solidFill>
              </a:rPr>
              <a:t>Ankle → very low repeatability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86B1A6-4746-D04E-35A4-AB5270AEEF87}"/>
              </a:ext>
            </a:extLst>
          </p:cNvPr>
          <p:cNvSpPr/>
          <p:nvPr/>
        </p:nvSpPr>
        <p:spPr>
          <a:xfrm>
            <a:off x="5189379" y="2619285"/>
            <a:ext cx="735106" cy="25457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585A6-171C-B1D7-8710-91C5BA3EE906}"/>
              </a:ext>
            </a:extLst>
          </p:cNvPr>
          <p:cNvSpPr/>
          <p:nvPr/>
        </p:nvSpPr>
        <p:spPr>
          <a:xfrm>
            <a:off x="3683309" y="2646468"/>
            <a:ext cx="735106" cy="25457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FA84C8-FE92-52D9-5784-0A5C35185C83}"/>
              </a:ext>
            </a:extLst>
          </p:cNvPr>
          <p:cNvSpPr/>
          <p:nvPr/>
        </p:nvSpPr>
        <p:spPr>
          <a:xfrm>
            <a:off x="6751166" y="2615332"/>
            <a:ext cx="735106" cy="2545765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CF84FF-3894-226D-CBC4-CE20973E412D}"/>
              </a:ext>
            </a:extLst>
          </p:cNvPr>
          <p:cNvSpPr txBox="1"/>
          <p:nvPr/>
        </p:nvSpPr>
        <p:spPr>
          <a:xfrm>
            <a:off x="3719168" y="258866"/>
            <a:ext cx="8176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Individual steps are very </a:t>
            </a:r>
            <a:r>
              <a:rPr lang="en-US" sz="2400" b="1" dirty="0"/>
              <a:t>noisy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Repeatability is limited, especially for knee and ankle</a:t>
            </a:r>
          </a:p>
        </p:txBody>
      </p:sp>
    </p:spTree>
    <p:extLst>
      <p:ext uri="{BB962C8B-B14F-4D97-AF65-F5344CB8AC3E}">
        <p14:creationId xmlns:p14="http://schemas.microsoft.com/office/powerpoint/2010/main" val="2504340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850AC-1A94-E076-7B3D-1F32FBE6B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90FE93-A76B-F1D0-2BB9-0DF448213DC5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93CB3F-D5B1-3397-3722-2059C548FCBD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FC1FD-263C-DE06-E8DF-46EF1FCDF068}"/>
              </a:ext>
            </a:extLst>
          </p:cNvPr>
          <p:cNvSpPr txBox="1"/>
          <p:nvPr/>
        </p:nvSpPr>
        <p:spPr>
          <a:xfrm>
            <a:off x="1107374" y="319089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1813324-8E3E-475B-6EA7-A0B12505C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491" y="1651000"/>
            <a:ext cx="7707745" cy="435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09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382F7-53CD-B657-E739-AF048896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C1930F-DE4E-1671-17DE-A852B620C6C2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17957B-64C6-326F-B557-8212BFBA4618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2A525C-DAD6-8E74-F99F-B1A378EE78A7}"/>
              </a:ext>
            </a:extLst>
          </p:cNvPr>
          <p:cNvSpPr txBox="1"/>
          <p:nvPr/>
        </p:nvSpPr>
        <p:spPr>
          <a:xfrm>
            <a:off x="1107374" y="319089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899FD8-C368-6593-DE22-1D7E96945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834" y="1333363"/>
            <a:ext cx="6604000" cy="4914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C007F1-1D64-8465-EE05-0D43C357C29C}"/>
              </a:ext>
            </a:extLst>
          </p:cNvPr>
          <p:cNvSpPr txBox="1"/>
          <p:nvPr/>
        </p:nvSpPr>
        <p:spPr>
          <a:xfrm>
            <a:off x="304553" y="2880597"/>
            <a:ext cx="41674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classifies the unbraced and ankle-brace conditions very accurately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knee-brace condition is more difficult to distinguish and is frequently misclassified as unbraced</a:t>
            </a:r>
          </a:p>
        </p:txBody>
      </p:sp>
    </p:spTree>
    <p:extLst>
      <p:ext uri="{BB962C8B-B14F-4D97-AF65-F5344CB8AC3E}">
        <p14:creationId xmlns:p14="http://schemas.microsoft.com/office/powerpoint/2010/main" val="377590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FECB-B7BC-9399-C669-5FE3BC0C4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2FFAD6-D442-5C02-727B-16807E8F8CB7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38F722-9A02-97C3-D40E-604A49B60935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8" name="Picture 7" descr="A graph with a bar chart and text&#10;&#10;AI-generated content may be incorrect.">
            <a:extLst>
              <a:ext uri="{FF2B5EF4-FFF2-40B4-BE49-F238E27FC236}">
                <a16:creationId xmlns:a16="http://schemas.microsoft.com/office/drawing/2014/main" id="{5B267AE0-72F8-6571-B2EC-E27F8DE66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" y="1349883"/>
            <a:ext cx="7213600" cy="5384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5A6D4A-EFAA-6FF8-E859-2FA1E6E71AA9}"/>
              </a:ext>
            </a:extLst>
          </p:cNvPr>
          <p:cNvSpPr txBox="1"/>
          <p:nvPr/>
        </p:nvSpPr>
        <p:spPr>
          <a:xfrm>
            <a:off x="8269988" y="1349883"/>
            <a:ext cx="3000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unlikely to happen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future improvement would be to evaluate whether removing this features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443022-6993-8C72-52D9-AEDBC24C4565}"/>
              </a:ext>
            </a:extLst>
          </p:cNvPr>
          <p:cNvSpPr txBox="1"/>
          <p:nvPr/>
        </p:nvSpPr>
        <p:spPr>
          <a:xfrm>
            <a:off x="7986713" y="5886450"/>
            <a:ext cx="3830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leg1_joint3_mean_angle </a:t>
            </a:r>
          </a:p>
          <a:p>
            <a:r>
              <a:rPr lang="en-US" b="1" dirty="0"/>
              <a:t>is the most important feature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69B0E5-4F3E-105F-C5CA-790710BF0F74}"/>
              </a:ext>
            </a:extLst>
          </p:cNvPr>
          <p:cNvSpPr/>
          <p:nvPr/>
        </p:nvSpPr>
        <p:spPr>
          <a:xfrm>
            <a:off x="5943600" y="1585913"/>
            <a:ext cx="1414463" cy="400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8D4A35-3E96-F2EC-DF0F-24038990A4E1}"/>
              </a:ext>
            </a:extLst>
          </p:cNvPr>
          <p:cNvCxnSpPr>
            <a:cxnSpLocks/>
          </p:cNvCxnSpPr>
          <p:nvPr/>
        </p:nvCxnSpPr>
        <p:spPr>
          <a:xfrm>
            <a:off x="7358063" y="1785938"/>
            <a:ext cx="72618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7B092E0-915A-7DF3-B317-AC27906D413B}"/>
              </a:ext>
            </a:extLst>
          </p:cNvPr>
          <p:cNvSpPr txBox="1"/>
          <p:nvPr/>
        </p:nvSpPr>
        <p:spPr>
          <a:xfrm>
            <a:off x="206829" y="434505"/>
            <a:ext cx="4029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eature Importances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795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1ED4E-5B91-9CA2-3EEF-CBF6DEA56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246240-B127-34FA-E1C6-CA2E7815EBD4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A89F4-3AEC-4956-BDC3-AB7F6B39F344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458D52-327A-98FC-D52D-C4F19999FDB6}"/>
              </a:ext>
            </a:extLst>
          </p:cNvPr>
          <p:cNvSpPr txBox="1"/>
          <p:nvPr/>
        </p:nvSpPr>
        <p:spPr>
          <a:xfrm>
            <a:off x="77190" y="426554"/>
            <a:ext cx="4029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eature Importances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B6C5E6-C323-29EF-5CAA-5C50B146B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410" y="137681"/>
            <a:ext cx="7772400" cy="65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B6071D-FF0F-CC52-878C-CE52E768C9A1}"/>
              </a:ext>
            </a:extLst>
          </p:cNvPr>
          <p:cNvSpPr txBox="1"/>
          <p:nvPr/>
        </p:nvSpPr>
        <p:spPr>
          <a:xfrm>
            <a:off x="206828" y="2413336"/>
            <a:ext cx="40290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features related to joint 3 have the largest overall impact on the model’s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different features are important for distinguishing different brace conditions.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950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CB3C9-C391-B170-7522-21421041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D035C5-34F2-D1ED-3C15-71E079C984F7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178F1-4647-1658-E36C-A02B54FF826F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F383FD-EBA2-737D-2CFE-53E10DA9961A}"/>
              </a:ext>
            </a:extLst>
          </p:cNvPr>
          <p:cNvSpPr txBox="1"/>
          <p:nvPr/>
        </p:nvSpPr>
        <p:spPr>
          <a:xfrm>
            <a:off x="206829" y="319089"/>
            <a:ext cx="3683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feature importances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1FF6FC-9917-016B-9A64-1652E5DCC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28" y="1452949"/>
            <a:ext cx="8760421" cy="1581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0F38AB-4EFD-4833-7C5D-4D410ADE4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28" y="3041071"/>
            <a:ext cx="8950112" cy="10875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F52678-4AAB-B360-6330-0EE8BBCAC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727" y="4508388"/>
            <a:ext cx="8760421" cy="11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90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E1941-D458-1BC7-169E-F1D5A7136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9CE284-29AB-BF4B-3726-D944917CF8DD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65CA8F-719B-FBF4-1E31-13369D61ADCF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E763D-0088-A9EB-3801-F67DBB5334DF}"/>
              </a:ext>
            </a:extLst>
          </p:cNvPr>
          <p:cNvSpPr txBox="1"/>
          <p:nvPr/>
        </p:nvSpPr>
        <p:spPr>
          <a:xfrm>
            <a:off x="1136729" y="426553"/>
            <a:ext cx="157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680319-99BA-F90B-4413-702D471075EB}"/>
              </a:ext>
            </a:extLst>
          </p:cNvPr>
          <p:cNvSpPr txBox="1"/>
          <p:nvPr/>
        </p:nvSpPr>
        <p:spPr>
          <a:xfrm>
            <a:off x="1136729" y="2644170"/>
            <a:ext cx="100685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feature pairs contribute additional predictive power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189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1FA56-ED05-A056-8097-B5123E9D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83A6AD-7682-5124-21D6-4CFD1B37B940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0AC7B-9CFE-4A22-1724-F8134825109C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9E3488-7D2B-7913-7CCE-0EA8357E0DD8}"/>
              </a:ext>
            </a:extLst>
          </p:cNvPr>
          <p:cNvSpPr txBox="1"/>
          <p:nvPr/>
        </p:nvSpPr>
        <p:spPr>
          <a:xfrm>
            <a:off x="4827960" y="2540131"/>
            <a:ext cx="25360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981952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6267</TotalTime>
  <Words>584</Words>
  <Application>Microsoft Macintosh PowerPoint</Application>
  <PresentationFormat>Widescreen</PresentationFormat>
  <Paragraphs>149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hsad</dc:creator>
  <cp:lastModifiedBy>hsad</cp:lastModifiedBy>
  <cp:revision>14</cp:revision>
  <dcterms:created xsi:type="dcterms:W3CDTF">2025-10-20T17:42:30Z</dcterms:created>
  <dcterms:modified xsi:type="dcterms:W3CDTF">2025-12-12T19:40:22Z</dcterms:modified>
</cp:coreProperties>
</file>