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4" r:id="rId4"/>
    <p:sldId id="263" r:id="rId5"/>
    <p:sldId id="258" r:id="rId6"/>
    <p:sldId id="259" r:id="rId7"/>
    <p:sldId id="265" r:id="rId8"/>
    <p:sldId id="266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6192"/>
  </p:normalViewPr>
  <p:slideViewPr>
    <p:cSldViewPr snapToGrid="0">
      <p:cViewPr varScale="1">
        <p:scale>
          <a:sx n="123" d="100"/>
          <a:sy n="123" d="100"/>
        </p:scale>
        <p:origin x="2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58E660-804A-154A-97F1-2E908C077959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C168-65EF-174D-9685-BF478A60DEF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0102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0242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373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3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1292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4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35321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40075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5359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45984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143862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9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36273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67C168-65EF-174D-9685-BF478A60DEFD}" type="slidenum">
              <a:rPr lang="en-CN" smtClean="0"/>
              <a:t>10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3641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7CBA6-EA1D-ECC8-C4FC-1CCD426103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C7ECD6-FA3B-3BBC-8F64-4C55448AD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21060-81F5-8DE7-A13A-6EC585856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F38CD-4E7A-1171-AFDC-F65422644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3C3F-4D10-6C9C-9EAB-0F379B24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9224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31A9-286A-2015-B6E7-52F27E0F4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B7C13-C70F-CC63-A29B-22A736703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77706-265C-D10F-7349-421B9ABB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3F961-6831-33F9-0A3B-9E12420B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794D6-CB6A-6DCF-D19E-EF04EF2E0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469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53B6D-8E34-58AC-33FD-2315FDAF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FD707-4A75-C4FF-0DFE-8845CB7A8E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E600A-1FCB-F0C1-335E-5CF61E62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E7F59-41FC-F190-2E3E-6E7867FE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FE9D1-AC3E-1326-6DB6-B5EA7905E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874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0728-1F7C-7DD5-DDB9-F428D8E5F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780E7-8756-5246-B88F-BF3E16D61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9C1B9-8943-7232-C562-233482411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95CBE8-ED5F-DC3B-A420-27FC97F0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B590E-FE9C-8C5F-6D97-B5661B4B2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7AA07-F270-0BC1-4B5E-2BE7112D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3802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8A5BA-E4BE-1C2C-5ACE-9BAF24A42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CF9C3-D8D7-41A1-3E83-636F6F88B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DEE333-D6F6-86C7-1C4B-1A70C5CB8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F94CA-E233-A222-B8AD-727C1102C3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32CC3A-760A-B34D-8E60-78A51CA7B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758A56-B6E9-7F5C-A06E-9BA403D62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2DB0F-D29E-156E-5616-7E26ABA0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18A499-2FDB-1A29-FAFF-88153FB28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9926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39DF6-22FC-4A3A-D532-19FB485D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C11BD-7102-43B1-0DC7-31D0A662A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644A2-881C-BAAC-4DAD-AAC837C47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6B6D8-D59D-F0C3-CDEF-DCC0B5EBD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49631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D062D0-A857-033C-DD9D-22E108B53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850A85-FCAE-28D2-123C-C7FC16E5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885B1-6FFE-7056-F196-61F6AA7B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94177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1A16D-32E1-E57E-466D-672CBC578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6321BF-AD07-48B3-38E8-561321ADC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0733B-2C96-3427-DD1D-E76FF64166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647875-CDF1-DAD0-03C9-400A6F56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E6BCC-70AB-914B-EB62-54651B288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6A3EF-6A2E-859A-D504-BD2216A1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1152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0A59-FC9E-34E9-7473-C3EFD8E16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959397-A36F-CBED-D16A-30CE3FEAA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358BB-9D44-3E59-0F12-90D28FA74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8D30F-72A6-2742-E163-C5B7F526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2557F-AC97-46AE-A596-1BE2D5CC3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DC7C4-691F-8E50-FE96-C8A14B39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0222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322F-2520-FFCC-DA1A-E2E35E5F4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AA762-089A-BFF0-29B2-9973BEA6B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018A3-46E0-EFB1-9C21-262C84AC8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19B79F-B700-EC86-9819-5AF16516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94EF1-07EC-109B-F8E6-A6A53300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858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B6EAF8-3995-A171-A14A-3F2E68DC43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9F009A-5679-EE50-B742-F56EB8143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1ADA2-D52D-EAE1-9086-A8B5555E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62EB4-D43F-4A5D-DA3B-0C60CF737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63718-D6A5-958B-06DF-F7CD2319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8144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AB3CE4-29ED-0A19-DAF6-C24DF9D1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C927E-28BC-1BC1-D58C-561716921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CD261-7047-93A9-93CC-9E0A4E6A3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C6786C-A465-6E45-871B-95FBC7C0BDBA}" type="datetimeFigureOut">
              <a:rPr lang="en-CN" smtClean="0"/>
              <a:t>2025/10/23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7286-0E1D-BF89-FB6D-4CE67E480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08C56-573B-2D88-0452-6D7232F33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E4FB6-3E2F-184F-8E0F-89630B5905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899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itongPeng/Gait-Condition-Recognition.gi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760/multivariate+gait+dat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996A53-8D3D-8D4B-BDEE-949F1F97F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11342" y="5510088"/>
            <a:ext cx="2721429" cy="112122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Yitong Peng</a:t>
            </a:r>
          </a:p>
          <a:p>
            <a:pPr>
              <a:lnSpc>
                <a:spcPct val="150000"/>
              </a:lnSpc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GitHub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D5764-E451-4069-29D4-9B165A285EAD}"/>
              </a:ext>
            </a:extLst>
          </p:cNvPr>
          <p:cNvSpPr txBox="1"/>
          <p:nvPr/>
        </p:nvSpPr>
        <p:spPr>
          <a:xfrm>
            <a:off x="745672" y="457588"/>
            <a:ext cx="1817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Oct 24th, 2025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49622D-99D2-2077-0FC2-592FC173C6B9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BC9004-5B71-F8C2-A0B3-4F6117592D3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56FDB0-7F03-525A-9509-997F1A0DC52F}"/>
              </a:ext>
            </a:extLst>
          </p:cNvPr>
          <p:cNvSpPr/>
          <p:nvPr/>
        </p:nvSpPr>
        <p:spPr>
          <a:xfrm>
            <a:off x="0" y="1785257"/>
            <a:ext cx="12192000" cy="3352800"/>
          </a:xfrm>
          <a:prstGeom prst="rect">
            <a:avLst/>
          </a:prstGeom>
          <a:solidFill>
            <a:srgbClr val="D1D1D1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Gait Condition Recognition </a:t>
            </a:r>
          </a:p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Multivariate Angle Data</a:t>
            </a:r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Institute, Brown University</a:t>
            </a:r>
            <a:endParaRPr lang="en-CN" sz="24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124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55DB5-2A52-63E0-FA80-113F1D5A8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4A41A5-E62E-B50C-A67E-4623AD5C6442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37368-AC22-6E93-7EE1-A8C7E2FD62B3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3FC39-BCE2-37AE-974C-FCC1F0F33C42}"/>
              </a:ext>
            </a:extLst>
          </p:cNvPr>
          <p:cNvSpPr txBox="1"/>
          <p:nvPr/>
        </p:nvSpPr>
        <p:spPr>
          <a:xfrm>
            <a:off x="206829" y="319089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FE72E-6996-2044-8962-734CD253E7E8}"/>
              </a:ext>
            </a:extLst>
          </p:cNvPr>
          <p:cNvSpPr txBox="1"/>
          <p:nvPr/>
        </p:nvSpPr>
        <p:spPr>
          <a:xfrm>
            <a:off x="1094015" y="1456562"/>
            <a:ext cx="931272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hlinkClick r:id="rId3"/>
              </a:rPr>
              <a:t>UCI Machine Learning Repository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subjects x 3 conditions x 10 replications x 2 legs x 3 joints x 101 time points</a:t>
            </a:r>
            <a:endParaRPr lang="en-US" dirty="0">
              <a:latin typeface="Times New Roman" panose="02020603050405020304" pitchFamily="18" charset="0"/>
              <a:ea typeface="Noteworthy Light" panose="02000400000000000000" pitchFamily="2" charset="77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ea typeface="Noteworthy Light" panose="02000400000000000000" pitchFamily="2" charset="77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AB00389-E2BB-E361-4971-6283071DF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641196"/>
              </p:ext>
            </p:extLst>
          </p:nvPr>
        </p:nvGraphicFramePr>
        <p:xfrm>
          <a:off x="1803401" y="3429000"/>
          <a:ext cx="722172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928">
                  <a:extLst>
                    <a:ext uri="{9D8B030D-6E8A-4147-A177-3AD203B41FA5}">
                      <a16:colId xmlns:a16="http://schemas.microsoft.com/office/drawing/2014/main" val="1958735644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863759054"/>
                    </a:ext>
                  </a:extLst>
                </a:gridCol>
              </a:tblGrid>
              <a:tr h="303070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627598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  <a:r>
                        <a:rPr lang="en-CN" dirty="0"/>
                        <a:t>roup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755417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condition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unbraced, 2 = knee brace, 3 = ankle brace (integer)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211483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replication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gait cycle (0, …, 10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28781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leg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left, 2 = right (integer)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405868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joint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= ankle, 2 = knee, 3 = hip (integer)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341466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time point</a:t>
                      </a:r>
                      <a:r>
                        <a:rPr lang="en-CN" dirty="0">
                          <a:effectLst/>
                        </a:rPr>
                        <a:t> 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 = 0% gait cycle, …, 100 = 100% gait cycle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71742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dirty="0"/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joint angle in degrees (real valued)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21486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41B1DA-DAA0-6CF3-678F-58771BBC2663}"/>
              </a:ext>
            </a:extLst>
          </p:cNvPr>
          <p:cNvCxnSpPr/>
          <p:nvPr/>
        </p:nvCxnSpPr>
        <p:spPr>
          <a:xfrm>
            <a:off x="8741229" y="4354286"/>
            <a:ext cx="6640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0DB7EB8-199C-4034-B474-4AADE113FF8D}"/>
              </a:ext>
            </a:extLst>
          </p:cNvPr>
          <p:cNvSpPr txBox="1"/>
          <p:nvPr/>
        </p:nvSpPr>
        <p:spPr>
          <a:xfrm>
            <a:off x="9481457" y="4169620"/>
            <a:ext cx="253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CN" dirty="0">
                <a:solidFill>
                  <a:srgbClr val="FF0000"/>
                </a:solidFill>
              </a:rPr>
              <a:t>nly on the right side</a:t>
            </a:r>
          </a:p>
        </p:txBody>
      </p:sp>
    </p:spTree>
    <p:extLst>
      <p:ext uri="{BB962C8B-B14F-4D97-AF65-F5344CB8AC3E}">
        <p14:creationId xmlns:p14="http://schemas.microsoft.com/office/powerpoint/2010/main" val="703260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454F6-8A8B-C634-522D-53BA7C56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F5C964-E2DA-9069-2A10-67CE97E98F59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C68815-B13E-1C8E-13ED-3BFBE43E4D81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2CCD8-65C1-028E-9683-1FE3304B58F9}"/>
              </a:ext>
            </a:extLst>
          </p:cNvPr>
          <p:cNvSpPr txBox="1"/>
          <p:nvPr/>
        </p:nvSpPr>
        <p:spPr>
          <a:xfrm>
            <a:off x="206829" y="319089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6F7C40-D46D-54B3-541D-42B5DE10D6DB}"/>
              </a:ext>
            </a:extLst>
          </p:cNvPr>
          <p:cNvSpPr txBox="1"/>
          <p:nvPr/>
        </p:nvSpPr>
        <p:spPr>
          <a:xfrm>
            <a:off x="1094014" y="1456562"/>
            <a:ext cx="1045752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3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CN" dirty="0">
                <a:latin typeface="Times New Roman" panose="02020603050405020304" pitchFamily="18" charset="0"/>
                <a:ea typeface="Noteworthy Light" panose="02000400000000000000" pitchFamily="2" charset="77"/>
                <a:cs typeface="Times New Roman" panose="02020603050405020304" pitchFamily="18" charset="0"/>
              </a:rPr>
              <a:t>Classification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walking conditions by analyzing the joint angles of the left and right legs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unseen man)</a:t>
            </a:r>
          </a:p>
          <a:p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Dataset is not IID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structure</a:t>
            </a:r>
            <a:endParaRPr lang="en-CN" dirty="0">
              <a:latin typeface="Times New Roman" panose="02020603050405020304" pitchFamily="18" charset="0"/>
              <a:ea typeface="Noteworthy Light" panose="02000400000000000000" pitchFamily="2" charset="77"/>
              <a:cs typeface="Times New Roman" panose="02020603050405020304" pitchFamily="18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518E2B9-0C6C-2A79-18BA-860940655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03118"/>
              </p:ext>
            </p:extLst>
          </p:nvPr>
        </p:nvGraphicFramePr>
        <p:xfrm>
          <a:off x="1803401" y="3429000"/>
          <a:ext cx="7332853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53">
                  <a:extLst>
                    <a:ext uri="{9D8B030D-6E8A-4147-A177-3AD203B41FA5}">
                      <a16:colId xmlns:a16="http://schemas.microsoft.com/office/drawing/2014/main" val="1958735644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863759054"/>
                    </a:ext>
                  </a:extLst>
                </a:gridCol>
              </a:tblGrid>
              <a:tr h="303070"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627598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roup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755417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condition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= unbraced, 2 = knee brace, 3 = ankle brace (integer)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211483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replication 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gait cycle (0, …, 10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integer</a:t>
                      </a:r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428781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leg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= left, 2 = right (integer)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3405868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joint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 = ankle, 2 = knee, 3 = hip (integer)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2341466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 point</a:t>
                      </a:r>
                      <a:r>
                        <a:rPr lang="en-CN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 = 0% gait cycle, …, 100 = 100% gait cycle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971742"/>
                  </a:ext>
                </a:extLst>
              </a:tr>
              <a:tr h="323165">
                <a:tc>
                  <a:txBody>
                    <a:bodyPr/>
                    <a:lstStyle/>
                    <a:p>
                      <a:pPr algn="ctr"/>
                      <a:r>
                        <a:rPr lang="en-C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joint angle in degrees (real valued)</a:t>
                      </a:r>
                      <a:endParaRPr lang="en-C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22148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F275F40C-73E8-8D3C-4C12-34573563E938}"/>
              </a:ext>
            </a:extLst>
          </p:cNvPr>
          <p:cNvSpPr/>
          <p:nvPr/>
        </p:nvSpPr>
        <p:spPr>
          <a:xfrm>
            <a:off x="1905000" y="4201886"/>
            <a:ext cx="1197429" cy="2830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14A01A9-B9E7-0476-3215-53A8E6E3A5DF}"/>
              </a:ext>
            </a:extLst>
          </p:cNvPr>
          <p:cNvCxnSpPr>
            <a:cxnSpLocks/>
          </p:cNvCxnSpPr>
          <p:nvPr/>
        </p:nvCxnSpPr>
        <p:spPr>
          <a:xfrm flipH="1">
            <a:off x="1385047" y="4348522"/>
            <a:ext cx="5199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CF5926-870A-7DD5-1902-C2D84A927D63}"/>
              </a:ext>
            </a:extLst>
          </p:cNvPr>
          <p:cNvSpPr txBox="1"/>
          <p:nvPr/>
        </p:nvSpPr>
        <p:spPr>
          <a:xfrm>
            <a:off x="552450" y="4158734"/>
            <a:ext cx="800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200166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78029-29FF-C352-8FB4-0BAC4C70C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93900B-D694-01D7-52D9-43DC07104C21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E5B0EA-9991-9FEE-3810-F9217DE4D6B7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72D0E9-1E40-6EC1-04EF-B9365F3CA605}"/>
              </a:ext>
            </a:extLst>
          </p:cNvPr>
          <p:cNvSpPr txBox="1"/>
          <p:nvPr/>
        </p:nvSpPr>
        <p:spPr>
          <a:xfrm>
            <a:off x="767443" y="319089"/>
            <a:ext cx="177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C0559D-D871-4B62-9E67-E19604FB1D02}"/>
              </a:ext>
            </a:extLst>
          </p:cNvPr>
          <p:cNvSpPr txBox="1"/>
          <p:nvPr/>
        </p:nvSpPr>
        <p:spPr>
          <a:xfrm>
            <a:off x="930729" y="1295400"/>
            <a:ext cx="6471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of simple machine learning model (vector)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0E0D5A-FEE1-8EFB-7EA9-2A62F5112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952383"/>
              </p:ext>
            </p:extLst>
          </p:nvPr>
        </p:nvGraphicFramePr>
        <p:xfrm>
          <a:off x="1395707" y="1719587"/>
          <a:ext cx="3413443" cy="67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268">
                  <a:extLst>
                    <a:ext uri="{9D8B030D-6E8A-4147-A177-3AD203B41FA5}">
                      <a16:colId xmlns:a16="http://schemas.microsoft.com/office/drawing/2014/main" val="965859190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3181746881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82780263"/>
                    </a:ext>
                  </a:extLst>
                </a:gridCol>
                <a:gridCol w="436880">
                  <a:extLst>
                    <a:ext uri="{9D8B030D-6E8A-4147-A177-3AD203B41FA5}">
                      <a16:colId xmlns:a16="http://schemas.microsoft.com/office/drawing/2014/main" val="519245436"/>
                    </a:ext>
                  </a:extLst>
                </a:gridCol>
                <a:gridCol w="516255">
                  <a:extLst>
                    <a:ext uri="{9D8B030D-6E8A-4147-A177-3AD203B41FA5}">
                      <a16:colId xmlns:a16="http://schemas.microsoft.com/office/drawing/2014/main" val="3473542841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3894490452"/>
                    </a:ext>
                  </a:extLst>
                </a:gridCol>
              </a:tblGrid>
              <a:tr h="299965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CN" sz="16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1n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707061"/>
                  </a:ext>
                </a:extLst>
              </a:tr>
              <a:tr h="331780"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2n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lang="en-CN" sz="16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N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4272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7FB28C6-40F3-9A74-9B9B-32A2A3DC2FD5}"/>
              </a:ext>
            </a:extLst>
          </p:cNvPr>
          <p:cNvSpPr txBox="1"/>
          <p:nvPr/>
        </p:nvSpPr>
        <p:spPr>
          <a:xfrm>
            <a:off x="4961549" y="1841080"/>
            <a:ext cx="583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represents one complete sample (observation)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6F408-1F4B-F8CA-FD9F-9CD0C5918E63}"/>
              </a:ext>
            </a:extLst>
          </p:cNvPr>
          <p:cNvSpPr txBox="1"/>
          <p:nvPr/>
        </p:nvSpPr>
        <p:spPr>
          <a:xfrm>
            <a:off x="930729" y="2576569"/>
            <a:ext cx="10624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my dataset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CN" dirty="0"/>
              <a:t>606 rows 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 legs x 3 joints x 101 time points)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belonging to the same gait cycle (matrix)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become a vector for one sample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6DE3C0-18E1-35BE-27D7-3BF3DEA07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88" y="4561311"/>
            <a:ext cx="7772400" cy="11884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4CD16B-26A0-3C05-AD9B-E21E1F47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942" y="3426230"/>
            <a:ext cx="4109030" cy="81433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EA36D53-D9B9-1DF5-E345-693DB30E7CB3}"/>
              </a:ext>
            </a:extLst>
          </p:cNvPr>
          <p:cNvSpPr/>
          <p:nvPr/>
        </p:nvSpPr>
        <p:spPr>
          <a:xfrm>
            <a:off x="3385457" y="4561312"/>
            <a:ext cx="5834743" cy="1304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7A18AF-5BC2-FBC2-9746-ED91FBF526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188" y="6070518"/>
            <a:ext cx="7772400" cy="62631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D4C2075-AAC7-057C-F548-85A76ECEA5CD}"/>
              </a:ext>
            </a:extLst>
          </p:cNvPr>
          <p:cNvSpPr/>
          <p:nvPr/>
        </p:nvSpPr>
        <p:spPr>
          <a:xfrm>
            <a:off x="3102428" y="4561311"/>
            <a:ext cx="283029" cy="1188462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045D63-DD84-EBBD-2ADA-41EB503F2E25}"/>
              </a:ext>
            </a:extLst>
          </p:cNvPr>
          <p:cNvSpPr txBox="1"/>
          <p:nvPr/>
        </p:nvSpPr>
        <p:spPr>
          <a:xfrm>
            <a:off x="2767967" y="4240566"/>
            <a:ext cx="14774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CN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ggregate(AVG)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F492264-173E-EC6F-A318-4D093CA1FF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6070517"/>
            <a:ext cx="1726019" cy="62631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C331CD4-2E67-7E69-FDEC-E7E94FED6C84}"/>
              </a:ext>
            </a:extLst>
          </p:cNvPr>
          <p:cNvSpPr txBox="1"/>
          <p:nvPr/>
        </p:nvSpPr>
        <p:spPr>
          <a:xfrm>
            <a:off x="9220200" y="62484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b="1" dirty="0">
                <a:solidFill>
                  <a:schemeClr val="accent2"/>
                </a:solidFill>
              </a:rPr>
              <a:t>+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A4FBDCD-4C23-6C1D-8769-9188908327EA}"/>
              </a:ext>
            </a:extLst>
          </p:cNvPr>
          <p:cNvCxnSpPr/>
          <p:nvPr/>
        </p:nvCxnSpPr>
        <p:spPr>
          <a:xfrm flipV="1">
            <a:off x="10540409" y="5279570"/>
            <a:ext cx="0" cy="6858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C32BA6E-62F5-9F76-8B4E-E4344DE36178}"/>
              </a:ext>
            </a:extLst>
          </p:cNvPr>
          <p:cNvSpPr txBox="1"/>
          <p:nvPr/>
        </p:nvSpPr>
        <p:spPr>
          <a:xfrm>
            <a:off x="9680130" y="4919219"/>
            <a:ext cx="21880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Times New Roman" panose="02020603050405020304" pitchFamily="18" charset="0"/>
                <a:ea typeface="Noteworthy Light" panose="02000400000000000000" pitchFamily="2" charset="77"/>
                <a:cs typeface="Times New Roman" panose="02020603050405020304" pitchFamily="18" charset="0"/>
              </a:rPr>
              <a:t>To highlight asymmetry</a:t>
            </a:r>
            <a:endParaRPr lang="en-CN" sz="1400" dirty="0">
              <a:solidFill>
                <a:schemeClr val="accent2"/>
              </a:solidFill>
              <a:latin typeface="Times New Roman" panose="02020603050405020304" pitchFamily="18" charset="0"/>
              <a:ea typeface="Noteworthy Light" panose="02000400000000000000" pitchFamily="2" charset="77"/>
              <a:cs typeface="Times New Roman" panose="02020603050405020304" pitchFamily="18" charset="0"/>
            </a:endParaRPr>
          </a:p>
        </p:txBody>
      </p:sp>
      <p:sp>
        <p:nvSpPr>
          <p:cNvPr id="24" name="Moon 23">
            <a:extLst>
              <a:ext uri="{FF2B5EF4-FFF2-40B4-BE49-F238E27FC236}">
                <a16:creationId xmlns:a16="http://schemas.microsoft.com/office/drawing/2014/main" id="{930A3BB4-6464-9F8F-D2F2-54B446A7D3B4}"/>
              </a:ext>
            </a:extLst>
          </p:cNvPr>
          <p:cNvSpPr/>
          <p:nvPr/>
        </p:nvSpPr>
        <p:spPr>
          <a:xfrm>
            <a:off x="930729" y="3833397"/>
            <a:ext cx="146957" cy="1085822"/>
          </a:xfrm>
          <a:prstGeom prst="mo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5" name="Triangle 24">
            <a:extLst>
              <a:ext uri="{FF2B5EF4-FFF2-40B4-BE49-F238E27FC236}">
                <a16:creationId xmlns:a16="http://schemas.microsoft.com/office/drawing/2014/main" id="{9510B66A-DA43-372A-304C-F81FFAEEA121}"/>
              </a:ext>
            </a:extLst>
          </p:cNvPr>
          <p:cNvSpPr/>
          <p:nvPr/>
        </p:nvSpPr>
        <p:spPr>
          <a:xfrm rot="7406973">
            <a:off x="976635" y="4840948"/>
            <a:ext cx="277753" cy="18247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Moon 25">
            <a:extLst>
              <a:ext uri="{FF2B5EF4-FFF2-40B4-BE49-F238E27FC236}">
                <a16:creationId xmlns:a16="http://schemas.microsoft.com/office/drawing/2014/main" id="{6037347E-DD57-742B-7AAC-57424B56722E}"/>
              </a:ext>
            </a:extLst>
          </p:cNvPr>
          <p:cNvSpPr/>
          <p:nvPr/>
        </p:nvSpPr>
        <p:spPr>
          <a:xfrm>
            <a:off x="941619" y="5352776"/>
            <a:ext cx="146957" cy="1085822"/>
          </a:xfrm>
          <a:prstGeom prst="moon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7" name="Triangle 26">
            <a:extLst>
              <a:ext uri="{FF2B5EF4-FFF2-40B4-BE49-F238E27FC236}">
                <a16:creationId xmlns:a16="http://schemas.microsoft.com/office/drawing/2014/main" id="{A665C6B8-7EF2-5B96-782F-6DC0A81DD1CE}"/>
              </a:ext>
            </a:extLst>
          </p:cNvPr>
          <p:cNvSpPr/>
          <p:nvPr/>
        </p:nvSpPr>
        <p:spPr>
          <a:xfrm rot="7406973">
            <a:off x="987525" y="6360327"/>
            <a:ext cx="277753" cy="182478"/>
          </a:xfrm>
          <a:prstGeom prst="triangl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714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89685-E224-30B5-9B31-0B1DDB37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5058139-D784-3C9B-D1AC-E81561F7BD01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096002-7EAB-F688-0AF4-EB6ABB0AE274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32747E-FC27-2BEF-A8D5-96F9143252A9}"/>
              </a:ext>
            </a:extLst>
          </p:cNvPr>
          <p:cNvSpPr txBox="1"/>
          <p:nvPr/>
        </p:nvSpPr>
        <p:spPr>
          <a:xfrm>
            <a:off x="767443" y="319089"/>
            <a:ext cx="1774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E5A05-7CF4-4E90-04FD-8BD3D8A72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21" y="1924051"/>
            <a:ext cx="4622115" cy="195265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3642DA-E47F-10CD-7AD8-E5C4C537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202" y="1774372"/>
            <a:ext cx="6571299" cy="2296884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B489255-7D9A-FB9D-DF26-E872154F5F51}"/>
              </a:ext>
            </a:extLst>
          </p:cNvPr>
          <p:cNvCxnSpPr>
            <a:stCxn id="3" idx="3"/>
          </p:cNvCxnSpPr>
          <p:nvPr/>
        </p:nvCxnSpPr>
        <p:spPr>
          <a:xfrm>
            <a:off x="4967736" y="2900380"/>
            <a:ext cx="31183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010F744-2DF2-D747-2AC1-45DCD5DB6DBC}"/>
              </a:ext>
            </a:extLst>
          </p:cNvPr>
          <p:cNvSpPr/>
          <p:nvPr/>
        </p:nvSpPr>
        <p:spPr>
          <a:xfrm>
            <a:off x="345621" y="3679371"/>
            <a:ext cx="1733550" cy="19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09C72B-B0EB-DB16-B4DC-275D9B022F20}"/>
              </a:ext>
            </a:extLst>
          </p:cNvPr>
          <p:cNvSpPr/>
          <p:nvPr/>
        </p:nvSpPr>
        <p:spPr>
          <a:xfrm>
            <a:off x="5038595" y="3876709"/>
            <a:ext cx="1733550" cy="1973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19FE25-34D2-D1B5-2EF6-3069DF577EC9}"/>
              </a:ext>
            </a:extLst>
          </p:cNvPr>
          <p:cNvCxnSpPr>
            <a:cxnSpLocks/>
          </p:cNvCxnSpPr>
          <p:nvPr/>
        </p:nvCxnSpPr>
        <p:spPr>
          <a:xfrm>
            <a:off x="5795051" y="4071256"/>
            <a:ext cx="0" cy="65314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70EDF80-6B40-A3F6-5C32-6A1C896515FB}"/>
              </a:ext>
            </a:extLst>
          </p:cNvPr>
          <p:cNvSpPr txBox="1"/>
          <p:nvPr/>
        </p:nvSpPr>
        <p:spPr>
          <a:xfrm>
            <a:off x="5081124" y="4724400"/>
            <a:ext cx="164849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461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642A-92B9-EC1F-2664-2DB45BD06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6343CF-23BE-5DEB-D030-58B1B998C7C2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70FE92-0C86-A5C6-41DF-ACB3A3148AF5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17DBA4-9F77-93FD-8C21-7699072EDA80}"/>
              </a:ext>
            </a:extLst>
          </p:cNvPr>
          <p:cNvSpPr txBox="1"/>
          <p:nvPr/>
        </p:nvSpPr>
        <p:spPr>
          <a:xfrm>
            <a:off x="1211036" y="319089"/>
            <a:ext cx="88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C5738030-C9FF-58B1-48C2-A9834E241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079" y="83895"/>
            <a:ext cx="4974771" cy="6690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8FE3DDA5-684B-3FDC-107C-4A393E5531C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34215" y="-3801858"/>
            <a:ext cx="69728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19A5A5-BBE3-4BA1-1E1B-DC4D9A48D0B4}"/>
              </a:ext>
            </a:extLst>
          </p:cNvPr>
          <p:cNvSpPr txBox="1"/>
          <p:nvPr/>
        </p:nvSpPr>
        <p:spPr>
          <a:xfrm>
            <a:off x="206829" y="1698171"/>
            <a:ext cx="62225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left (control group)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brace significantly affects the right leg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is restricted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angle &amp; the range of motion increased (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is restricted (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range of motion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is restricted (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the range of motion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</p:txBody>
      </p:sp>
    </p:spTree>
    <p:extLst>
      <p:ext uri="{BB962C8B-B14F-4D97-AF65-F5344CB8AC3E}">
        <p14:creationId xmlns:p14="http://schemas.microsoft.com/office/powerpoint/2010/main" val="3611452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5853-9E9C-68C2-1C48-F43ACB2DC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EEAEE6-8B90-DECB-5681-399973DECBA7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DA2D1F-0BDD-5A5F-7AC5-8F64FBCE82E4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7442C-508A-B694-48FB-63AD4D718166}"/>
              </a:ext>
            </a:extLst>
          </p:cNvPr>
          <p:cNvSpPr txBox="1"/>
          <p:nvPr/>
        </p:nvSpPr>
        <p:spPr>
          <a:xfrm>
            <a:off x="1211036" y="319089"/>
            <a:ext cx="88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EE7E99C-3DC3-8227-E3C5-702E2C5F2FE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34215" y="-3801858"/>
            <a:ext cx="69728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AA3A0A-DB70-C749-DE9C-55455DE5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9" y="1273682"/>
            <a:ext cx="11647714" cy="3182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74E605-B5FD-26B0-4699-AE29E1196539}"/>
              </a:ext>
            </a:extLst>
          </p:cNvPr>
          <p:cNvSpPr txBox="1"/>
          <p:nvPr/>
        </p:nvSpPr>
        <p:spPr>
          <a:xfrm>
            <a:off x="2884712" y="4610633"/>
            <a:ext cx="59980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strongest asymmetry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subjects show greater right-ankle motion (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strongest asymmetry (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small variations (other two conditions)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greatest asymmetry (</a:t>
            </a:r>
            <a:r>
              <a:rPr lang="en-US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brace)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95E23-B909-9C10-5EDE-44AFAC3E9A44}"/>
              </a:ext>
            </a:extLst>
          </p:cNvPr>
          <p:cNvSpPr txBox="1"/>
          <p:nvPr/>
        </p:nvSpPr>
        <p:spPr>
          <a:xfrm>
            <a:off x="1466850" y="4619152"/>
            <a:ext cx="1262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Ankle Diff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FAF43-C68B-815C-9441-AC806656D6E9}"/>
              </a:ext>
            </a:extLst>
          </p:cNvPr>
          <p:cNvSpPr txBox="1"/>
          <p:nvPr/>
        </p:nvSpPr>
        <p:spPr>
          <a:xfrm>
            <a:off x="1528763" y="5452432"/>
            <a:ext cx="1138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Knee Diff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8BA74-3752-FF2B-C775-1AD2E6A6723B}"/>
              </a:ext>
            </a:extLst>
          </p:cNvPr>
          <p:cNvSpPr txBox="1"/>
          <p:nvPr/>
        </p:nvSpPr>
        <p:spPr>
          <a:xfrm>
            <a:off x="1590675" y="6272626"/>
            <a:ext cx="101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 Diff</a:t>
            </a:r>
          </a:p>
        </p:txBody>
      </p:sp>
    </p:spTree>
    <p:extLst>
      <p:ext uri="{BB962C8B-B14F-4D97-AF65-F5344CB8AC3E}">
        <p14:creationId xmlns:p14="http://schemas.microsoft.com/office/powerpoint/2010/main" val="3044038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E594D-8F87-722F-9344-08A8DCF4E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60A3B8-2157-B689-7731-A94740F99C1F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FE9C60-46DD-9D6F-CB02-B6A23A0873C6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940A80-6D8C-E3A6-167E-45F22DBEED04}"/>
              </a:ext>
            </a:extLst>
          </p:cNvPr>
          <p:cNvSpPr txBox="1"/>
          <p:nvPr/>
        </p:nvSpPr>
        <p:spPr>
          <a:xfrm>
            <a:off x="1211036" y="319089"/>
            <a:ext cx="887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538430-90D3-70AA-B80C-3C9D15A3A2D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34215" y="-3801858"/>
            <a:ext cx="697286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108B67-DF3A-5786-52C2-2B8BFC7FCF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01"/>
          <a:stretch>
            <a:fillRect/>
          </a:stretch>
        </p:blipFill>
        <p:spPr>
          <a:xfrm>
            <a:off x="4550229" y="486276"/>
            <a:ext cx="7554686" cy="62222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76E61-FABB-9F0C-202F-C36BC08C5A79}"/>
              </a:ext>
            </a:extLst>
          </p:cNvPr>
          <p:cNvSpPr txBox="1"/>
          <p:nvPr/>
        </p:nvSpPr>
        <p:spPr>
          <a:xfrm>
            <a:off x="279769" y="3676589"/>
            <a:ext cx="46623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right-ankle angle corresponds to greater ankle asymmetry (0.94)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the right-knee angle related to variations in knee asymmetry (0.86)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in the right-knee angle are always accompanied by the hip asymmetry (0.77)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 correlation between knee asymmetry and hip asymmetry (0.87)</a:t>
            </a:r>
            <a:endParaRPr lang="en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3B5CB6-6C04-473C-0CCC-C51724391441}"/>
              </a:ext>
            </a:extLst>
          </p:cNvPr>
          <p:cNvSpPr/>
          <p:nvPr/>
        </p:nvSpPr>
        <p:spPr>
          <a:xfrm>
            <a:off x="6333497" y="2917372"/>
            <a:ext cx="601436" cy="598714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305CBC7-1CB0-786F-E7C3-D0C76AB93427}"/>
              </a:ext>
            </a:extLst>
          </p:cNvPr>
          <p:cNvSpPr/>
          <p:nvPr/>
        </p:nvSpPr>
        <p:spPr>
          <a:xfrm>
            <a:off x="7066294" y="3597419"/>
            <a:ext cx="601436" cy="598714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1D54623-3A22-297C-274C-DB357623767F}"/>
              </a:ext>
            </a:extLst>
          </p:cNvPr>
          <p:cNvSpPr/>
          <p:nvPr/>
        </p:nvSpPr>
        <p:spPr>
          <a:xfrm>
            <a:off x="9465514" y="4299857"/>
            <a:ext cx="601436" cy="598714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DAA395-54D8-7AFB-48CD-507E5C173F96}"/>
              </a:ext>
            </a:extLst>
          </p:cNvPr>
          <p:cNvSpPr/>
          <p:nvPr/>
        </p:nvSpPr>
        <p:spPr>
          <a:xfrm>
            <a:off x="7066294" y="4343090"/>
            <a:ext cx="601436" cy="598714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2850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1BA3D-5B12-B95C-DEDA-08CB248C5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99492EC-9904-E850-0237-8DF9D3E704F5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3F9892-3FCC-706B-7588-35530551AF1D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2EE519-FDDA-E679-208F-9AD8D5B2BAD2}"/>
              </a:ext>
            </a:extLst>
          </p:cNvPr>
          <p:cNvSpPr txBox="1"/>
          <p:nvPr/>
        </p:nvSpPr>
        <p:spPr>
          <a:xfrm>
            <a:off x="27214" y="319257"/>
            <a:ext cx="3548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Prepossessing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E8F12-2C32-DB9A-2838-FFFAC594F850}"/>
              </a:ext>
            </a:extLst>
          </p:cNvPr>
          <p:cNvSpPr txBox="1"/>
          <p:nvPr/>
        </p:nvSpPr>
        <p:spPr>
          <a:xfrm>
            <a:off x="4762499" y="365059"/>
            <a:ext cx="2362200" cy="370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roup Based Splitting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5BC61-1603-FDAA-BC57-45FB99ECE94F}"/>
              </a:ext>
            </a:extLst>
          </p:cNvPr>
          <p:cNvSpPr/>
          <p:nvPr/>
        </p:nvSpPr>
        <p:spPr>
          <a:xfrm>
            <a:off x="4762499" y="2145266"/>
            <a:ext cx="2579914" cy="522515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462F6F-F1A0-1167-4A44-E2AF98E93984}"/>
              </a:ext>
            </a:extLst>
          </p:cNvPr>
          <p:cNvSpPr/>
          <p:nvPr/>
        </p:nvSpPr>
        <p:spPr>
          <a:xfrm>
            <a:off x="3652156" y="3286086"/>
            <a:ext cx="1915885" cy="522515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03824F-508C-B883-FCC5-702A1EF298B2}"/>
              </a:ext>
            </a:extLst>
          </p:cNvPr>
          <p:cNvSpPr/>
          <p:nvPr/>
        </p:nvSpPr>
        <p:spPr>
          <a:xfrm>
            <a:off x="6536870" y="3286086"/>
            <a:ext cx="1915885" cy="522515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B29F7-86F1-A37C-BB97-CDEE0D022E3E}"/>
              </a:ext>
            </a:extLst>
          </p:cNvPr>
          <p:cNvSpPr/>
          <p:nvPr/>
        </p:nvSpPr>
        <p:spPr>
          <a:xfrm>
            <a:off x="2672442" y="4409492"/>
            <a:ext cx="1589314" cy="522515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69E260-13F3-DF49-F28C-C4EBF1FAA9B9}"/>
              </a:ext>
            </a:extLst>
          </p:cNvPr>
          <p:cNvSpPr/>
          <p:nvPr/>
        </p:nvSpPr>
        <p:spPr>
          <a:xfrm>
            <a:off x="4980214" y="4409493"/>
            <a:ext cx="1589314" cy="522515"/>
          </a:xfrm>
          <a:prstGeom prst="rect">
            <a:avLst/>
          </a:prstGeom>
          <a:noFill/>
          <a:ln w="3810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585D96-2028-CF28-CDF1-CFBDFA63CFDB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4610099" y="2667781"/>
            <a:ext cx="1442357" cy="61830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B593409-6E91-4EA3-3ADA-CF15336BA135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6052456" y="2667781"/>
            <a:ext cx="1442357" cy="618305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4FC10F5-5C61-9486-903C-754CAB8453B1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467099" y="3808601"/>
            <a:ext cx="1143000" cy="600891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3F580D-C1E6-D3FE-F750-064AC00A8839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582885" y="3818394"/>
            <a:ext cx="1191986" cy="591099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01FE4489-81E7-D3A8-231D-8881D33A57D0}"/>
              </a:ext>
            </a:extLst>
          </p:cNvPr>
          <p:cNvSpPr txBox="1"/>
          <p:nvPr/>
        </p:nvSpPr>
        <p:spPr>
          <a:xfrm>
            <a:off x="5155415" y="2216961"/>
            <a:ext cx="170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riginal Dataset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DCB6C-DDDB-736E-5162-66706E12EC91}"/>
              </a:ext>
            </a:extLst>
          </p:cNvPr>
          <p:cNvSpPr txBox="1"/>
          <p:nvPr/>
        </p:nvSpPr>
        <p:spPr>
          <a:xfrm>
            <a:off x="4030426" y="3357781"/>
            <a:ext cx="1164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rain&amp;Val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400A90-7538-7BE4-B8C6-DD1DF622ADC4}"/>
              </a:ext>
            </a:extLst>
          </p:cNvPr>
          <p:cNvSpPr txBox="1"/>
          <p:nvPr/>
        </p:nvSpPr>
        <p:spPr>
          <a:xfrm>
            <a:off x="7202392" y="3367574"/>
            <a:ext cx="584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606731-FDB3-B531-E20B-87C1F94AD9FB}"/>
              </a:ext>
            </a:extLst>
          </p:cNvPr>
          <p:cNvSpPr txBox="1"/>
          <p:nvPr/>
        </p:nvSpPr>
        <p:spPr>
          <a:xfrm>
            <a:off x="3091542" y="4487251"/>
            <a:ext cx="751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4E2E7E-5902-A680-36DF-43A23BF22F12}"/>
              </a:ext>
            </a:extLst>
          </p:cNvPr>
          <p:cNvSpPr txBox="1"/>
          <p:nvPr/>
        </p:nvSpPr>
        <p:spPr>
          <a:xfrm>
            <a:off x="5517372" y="4486083"/>
            <a:ext cx="490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974194-CCDC-90F1-E45F-A8D7AC02722B}"/>
              </a:ext>
            </a:extLst>
          </p:cNvPr>
          <p:cNvSpPr txBox="1"/>
          <p:nvPr/>
        </p:nvSpPr>
        <p:spPr>
          <a:xfrm>
            <a:off x="2141628" y="2632053"/>
            <a:ext cx="20522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Shuffle Split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39A6E2D-B3B9-1887-6A61-F4499545286F}"/>
              </a:ext>
            </a:extLst>
          </p:cNvPr>
          <p:cNvSpPr txBox="1"/>
          <p:nvPr/>
        </p:nvSpPr>
        <p:spPr>
          <a:xfrm>
            <a:off x="361971" y="3647382"/>
            <a:ext cx="239681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Group K Fold</a:t>
            </a:r>
          </a:p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Scaler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770649F-05F2-5BCD-AD59-47C6FC0D5357}"/>
              </a:ext>
            </a:extLst>
          </p:cNvPr>
          <p:cNvSpPr txBox="1"/>
          <p:nvPr/>
        </p:nvSpPr>
        <p:spPr>
          <a:xfrm flipH="1">
            <a:off x="8553428" y="3231883"/>
            <a:ext cx="30588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evaluation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involved in model training </a:t>
            </a:r>
            <a:r>
              <a:rPr lang="en-US" altLang="zh-CN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449910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0EE17-637C-B103-E468-146D67DB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D801D5-6CBA-2437-8C10-844100D4E31A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93BE2E-4DC0-6472-2198-5466264EF457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AED17B-D893-2039-227A-FF36A49495B7}"/>
              </a:ext>
            </a:extLst>
          </p:cNvPr>
          <p:cNvSpPr txBox="1"/>
          <p:nvPr/>
        </p:nvSpPr>
        <p:spPr>
          <a:xfrm>
            <a:off x="27214" y="319257"/>
            <a:ext cx="3548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Prepossessing</a:t>
            </a:r>
            <a:endParaRPr lang="en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04D40D-4998-8C28-251C-1418DE7DB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047" y="826798"/>
            <a:ext cx="5519057" cy="37494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D04198-13A9-AF36-013C-02B7E22AF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446" y="4750127"/>
            <a:ext cx="3875314" cy="18685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0496A6-B4C1-3018-94A3-CA63438EAA60}"/>
              </a:ext>
            </a:extLst>
          </p:cNvPr>
          <p:cNvSpPr/>
          <p:nvPr/>
        </p:nvSpPr>
        <p:spPr>
          <a:xfrm>
            <a:off x="5848247" y="1000650"/>
            <a:ext cx="983283" cy="1440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3AF347-E431-F92F-7D46-D462B92AD5C4}"/>
              </a:ext>
            </a:extLst>
          </p:cNvPr>
          <p:cNvSpPr/>
          <p:nvPr/>
        </p:nvSpPr>
        <p:spPr>
          <a:xfrm>
            <a:off x="5848246" y="2552133"/>
            <a:ext cx="655997" cy="217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DE537-3327-D2FC-4B8F-3E2B0D202664}"/>
              </a:ext>
            </a:extLst>
          </p:cNvPr>
          <p:cNvSpPr/>
          <p:nvPr/>
        </p:nvSpPr>
        <p:spPr>
          <a:xfrm>
            <a:off x="5848247" y="4031610"/>
            <a:ext cx="983283" cy="217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4A39B3-D6D2-542C-1540-A55F8F530180}"/>
              </a:ext>
            </a:extLst>
          </p:cNvPr>
          <p:cNvSpPr/>
          <p:nvPr/>
        </p:nvSpPr>
        <p:spPr>
          <a:xfrm>
            <a:off x="5848246" y="4771579"/>
            <a:ext cx="613523" cy="217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274644-830E-E447-5DC2-858521939960}"/>
              </a:ext>
            </a:extLst>
          </p:cNvPr>
          <p:cNvSpPr/>
          <p:nvPr/>
        </p:nvSpPr>
        <p:spPr>
          <a:xfrm>
            <a:off x="5772047" y="780922"/>
            <a:ext cx="796084" cy="2173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D4279F-9E29-9965-B378-586A9BF81F39}"/>
              </a:ext>
            </a:extLst>
          </p:cNvPr>
          <p:cNvCxnSpPr>
            <a:cxnSpLocks/>
          </p:cNvCxnSpPr>
          <p:nvPr/>
        </p:nvCxnSpPr>
        <p:spPr>
          <a:xfrm flipH="1">
            <a:off x="4683098" y="3429000"/>
            <a:ext cx="9144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E29724D-71FE-2377-E781-2BE20E0CFA2D}"/>
              </a:ext>
            </a:extLst>
          </p:cNvPr>
          <p:cNvSpPr txBox="1"/>
          <p:nvPr/>
        </p:nvSpPr>
        <p:spPr>
          <a:xfrm>
            <a:off x="1713582" y="2801460"/>
            <a:ext cx="2931416" cy="14927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</a:p>
          <a:p>
            <a:pPr algn="ctr"/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evaluation</a:t>
            </a:r>
            <a:endParaRPr lang="en-C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681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E1941-D458-1BC7-169E-F1D5A7136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69CE284-29AB-BF4B-3726-D944917CF8DD}"/>
              </a:ext>
            </a:extLst>
          </p:cNvPr>
          <p:cNvSpPr/>
          <p:nvPr/>
        </p:nvSpPr>
        <p:spPr>
          <a:xfrm>
            <a:off x="206829" y="1011589"/>
            <a:ext cx="1447800" cy="1074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65CA8F-719B-FBF4-1E31-13369D61ADCF}"/>
              </a:ext>
            </a:extLst>
          </p:cNvPr>
          <p:cNvSpPr/>
          <p:nvPr/>
        </p:nvSpPr>
        <p:spPr>
          <a:xfrm>
            <a:off x="1654629" y="1011587"/>
            <a:ext cx="1447800" cy="1074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3D47D1-639B-768B-DF95-CF79172DDB2E}"/>
              </a:ext>
            </a:extLst>
          </p:cNvPr>
          <p:cNvSpPr txBox="1"/>
          <p:nvPr/>
        </p:nvSpPr>
        <p:spPr>
          <a:xfrm>
            <a:off x="4827960" y="2540131"/>
            <a:ext cx="25360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6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926189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3473</TotalTime>
  <Words>582</Words>
  <Application>Microsoft Macintosh PowerPoint</Application>
  <PresentationFormat>Widescreen</PresentationFormat>
  <Paragraphs>143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hsad</dc:creator>
  <cp:lastModifiedBy>hsad</cp:lastModifiedBy>
  <cp:revision>10</cp:revision>
  <dcterms:created xsi:type="dcterms:W3CDTF">2025-10-20T17:42:30Z</dcterms:created>
  <dcterms:modified xsi:type="dcterms:W3CDTF">2025-10-24T13:36:25Z</dcterms:modified>
</cp:coreProperties>
</file>